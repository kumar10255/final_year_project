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8" r:id="rId3"/>
    <p:sldId id="282" r:id="rId4"/>
    <p:sldId id="264" r:id="rId5"/>
    <p:sldId id="263" r:id="rId6"/>
    <p:sldId id="273" r:id="rId7"/>
    <p:sldId id="272" r:id="rId8"/>
    <p:sldId id="299" r:id="rId9"/>
    <p:sldId id="261" r:id="rId10"/>
    <p:sldId id="260" r:id="rId11"/>
    <p:sldId id="302" r:id="rId12"/>
    <p:sldId id="259" r:id="rId13"/>
    <p:sldId id="307" r:id="rId14"/>
    <p:sldId id="308" r:id="rId15"/>
    <p:sldId id="309" r:id="rId16"/>
    <p:sldId id="306" r:id="rId17"/>
    <p:sldId id="303" r:id="rId18"/>
    <p:sldId id="304" r:id="rId19"/>
    <p:sldId id="267" r:id="rId20"/>
    <p:sldId id="284" r:id="rId21"/>
    <p:sldId id="305" r:id="rId22"/>
    <p:sldId id="285" r:id="rId23"/>
    <p:sldId id="287" r:id="rId24"/>
    <p:sldId id="279" r:id="rId25"/>
    <p:sldId id="288" r:id="rId26"/>
    <p:sldId id="300" r:id="rId27"/>
    <p:sldId id="301" r:id="rId28"/>
    <p:sldId id="269" r:id="rId29"/>
    <p:sldId id="289" r:id="rId30"/>
    <p:sldId id="298" r:id="rId31"/>
    <p:sldId id="270" r:id="rId32"/>
    <p:sldId id="296" r:id="rId33"/>
    <p:sldId id="265" r:id="rId34"/>
    <p:sldId id="271"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9E45BF-9D66-4284-8D26-7C130C99C447}">
          <p14:sldIdLst>
            <p14:sldId id="256"/>
            <p14:sldId id="258"/>
            <p14:sldId id="282"/>
            <p14:sldId id="264"/>
            <p14:sldId id="263"/>
            <p14:sldId id="273"/>
            <p14:sldId id="272"/>
            <p14:sldId id="299"/>
            <p14:sldId id="261"/>
            <p14:sldId id="260"/>
            <p14:sldId id="302"/>
            <p14:sldId id="259"/>
            <p14:sldId id="307"/>
            <p14:sldId id="308"/>
            <p14:sldId id="309"/>
            <p14:sldId id="306"/>
            <p14:sldId id="303"/>
            <p14:sldId id="304"/>
            <p14:sldId id="267"/>
            <p14:sldId id="284"/>
            <p14:sldId id="305"/>
            <p14:sldId id="285"/>
            <p14:sldId id="287"/>
            <p14:sldId id="279"/>
            <p14:sldId id="288"/>
            <p14:sldId id="300"/>
            <p14:sldId id="301"/>
            <p14:sldId id="269"/>
            <p14:sldId id="289"/>
            <p14:sldId id="298"/>
          </p14:sldIdLst>
        </p14:section>
        <p14:section name="Untitled Section" id="{4CDC1311-8A95-483F-B2EC-B0727A7CCAB3}">
          <p14:sldIdLst>
            <p14:sldId id="270"/>
            <p14:sldId id="296"/>
            <p14:sldId id="265"/>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1502"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0672-1B94-4A60-842A-DF9F0BF0CC8B}" type="datetimeFigureOut">
              <a:rPr lang="en-IN" smtClean="0"/>
              <a:t>02-04-2025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47B17-79FE-4478-A310-1A2505B9FEF6}" type="slidenum">
              <a:rPr lang="en-IN" smtClean="0"/>
              <a:t>‹#›</a:t>
            </a:fld>
            <a:endParaRPr lang="en-IN"/>
          </a:p>
        </p:txBody>
      </p:sp>
    </p:spTree>
    <p:extLst>
      <p:ext uri="{BB962C8B-B14F-4D97-AF65-F5344CB8AC3E}">
        <p14:creationId xmlns:p14="http://schemas.microsoft.com/office/powerpoint/2010/main" val="3866276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3</a:t>
            </a:fld>
            <a:endParaRPr lang="en-IN"/>
          </a:p>
        </p:txBody>
      </p:sp>
    </p:spTree>
    <p:extLst>
      <p:ext uri="{BB962C8B-B14F-4D97-AF65-F5344CB8AC3E}">
        <p14:creationId xmlns:p14="http://schemas.microsoft.com/office/powerpoint/2010/main" val="2139283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5</a:t>
            </a:fld>
            <a:endParaRPr lang="en-IN"/>
          </a:p>
        </p:txBody>
      </p:sp>
    </p:spTree>
    <p:extLst>
      <p:ext uri="{BB962C8B-B14F-4D97-AF65-F5344CB8AC3E}">
        <p14:creationId xmlns:p14="http://schemas.microsoft.com/office/powerpoint/2010/main" val="397802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6</a:t>
            </a:fld>
            <a:endParaRPr lang="en-IN"/>
          </a:p>
        </p:txBody>
      </p:sp>
    </p:spTree>
    <p:extLst>
      <p:ext uri="{BB962C8B-B14F-4D97-AF65-F5344CB8AC3E}">
        <p14:creationId xmlns:p14="http://schemas.microsoft.com/office/powerpoint/2010/main" val="3841861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AA24C2-3E53-4726-A737-EE4E7CA95EDC}" type="datetime1">
              <a:rPr lang="en-IN" smtClean="0"/>
              <a:t>02-04-2025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518413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D64544-9ECA-4794-8C07-558446FF128D}" type="datetime1">
              <a:rPr lang="en-IN" smtClean="0"/>
              <a:t>02-04-2025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337664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3A90ED-DA9D-4F88-8306-00A5E65A51CB}" type="datetime1">
              <a:rPr lang="en-IN" smtClean="0"/>
              <a:t>02-04-2025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123058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387915-48A2-4244-A48D-5BB609B9CD0C}" type="datetime1">
              <a:rPr lang="en-IN" smtClean="0"/>
              <a:t>02-04-2025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68501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1F45DD-8FFB-4F59-941F-3C5638CB310A}" type="datetime1">
              <a:rPr lang="en-IN" smtClean="0"/>
              <a:t>02-04-2025</a:t>
            </a:fld>
            <a:endParaRPr lang="en-IN"/>
          </a:p>
        </p:txBody>
      </p:sp>
      <p:sp>
        <p:nvSpPr>
          <p:cNvPr id="8" name="Footer Placeholder 7"/>
          <p:cNvSpPr>
            <a:spLocks noGrp="1"/>
          </p:cNvSpPr>
          <p:nvPr>
            <p:ph type="ftr" sz="quarter" idx="11"/>
          </p:nvPr>
        </p:nvSpPr>
        <p:spPr/>
        <p:txBody>
          <a:bodyPr/>
          <a:lstStyle/>
          <a:p>
            <a:r>
              <a:rPr lang="en-IN"/>
              <a:t>Title of the Project</a:t>
            </a:r>
          </a:p>
        </p:txBody>
      </p:sp>
      <p:sp>
        <p:nvSpPr>
          <p:cNvPr id="9" name="Slide Number Placeholder 8"/>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4291154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9C2BCE-1FCA-4535-9C82-D316897182D6}" type="datetime1">
              <a:rPr lang="en-IN" smtClean="0"/>
              <a:t>02-04-2025</a:t>
            </a:fld>
            <a:endParaRPr lang="en-IN"/>
          </a:p>
        </p:txBody>
      </p:sp>
      <p:sp>
        <p:nvSpPr>
          <p:cNvPr id="4" name="Footer Placeholder 3"/>
          <p:cNvSpPr>
            <a:spLocks noGrp="1"/>
          </p:cNvSpPr>
          <p:nvPr>
            <p:ph type="ftr" sz="quarter" idx="11"/>
          </p:nvPr>
        </p:nvSpPr>
        <p:spPr/>
        <p:txBody>
          <a:bodyPr/>
          <a:lstStyle/>
          <a:p>
            <a:r>
              <a:rPr lang="en-IN"/>
              <a:t>Title of the Project</a:t>
            </a:r>
          </a:p>
        </p:txBody>
      </p:sp>
      <p:sp>
        <p:nvSpPr>
          <p:cNvPr id="5" name="Slide Number Placeholder 4"/>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143164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78D60D-5124-4F36-9CF6-B4EEB102CCE6}" type="datetime1">
              <a:rPr lang="en-IN" smtClean="0"/>
              <a:t>02-04-2025</a:t>
            </a:fld>
            <a:endParaRPr lang="en-IN"/>
          </a:p>
        </p:txBody>
      </p:sp>
      <p:sp>
        <p:nvSpPr>
          <p:cNvPr id="3" name="Footer Placeholder 2"/>
          <p:cNvSpPr>
            <a:spLocks noGrp="1"/>
          </p:cNvSpPr>
          <p:nvPr>
            <p:ph type="ftr" sz="quarter" idx="11"/>
          </p:nvPr>
        </p:nvSpPr>
        <p:spPr/>
        <p:txBody>
          <a:bodyPr/>
          <a:lstStyle/>
          <a:p>
            <a:r>
              <a:rPr lang="en-IN"/>
              <a:t>Title of the Project</a:t>
            </a:r>
          </a:p>
        </p:txBody>
      </p:sp>
      <p:sp>
        <p:nvSpPr>
          <p:cNvPr id="4" name="Slide Number Placeholder 3"/>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27128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F11D5C-EF3B-4A5A-B599-9B590335E013}" type="datetime1">
              <a:rPr lang="en-IN" smtClean="0"/>
              <a:t>02-04-2025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884462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382436-6BFA-4230-866A-AFECC37E2B70}" type="datetime1">
              <a:rPr lang="en-IN" smtClean="0"/>
              <a:t>02-04-2025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7276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EAD606-F13B-48FD-966B-DB05054207D5}" type="datetime1">
              <a:rPr lang="en-IN" smtClean="0"/>
              <a:t>02-04-2025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351823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D085FC-A300-4382-ACDC-C380DB20E501}" type="datetime1">
              <a:rPr lang="en-IN" smtClean="0"/>
              <a:t>02-04-2025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1319139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2DB548-5A70-4963-853B-13646944B516}" type="datetime1">
              <a:rPr lang="en-IN" smtClean="0"/>
              <a:t>02-04-2025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Title of the Project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FF152-60F5-4862-82F9-1190556AA56F}" type="slidenum">
              <a:rPr lang="en-IN" smtClean="0"/>
              <a:t>‹#›</a:t>
            </a:fld>
            <a:endParaRPr lang="en-IN"/>
          </a:p>
        </p:txBody>
      </p:sp>
    </p:spTree>
    <p:extLst>
      <p:ext uri="{BB962C8B-B14F-4D97-AF65-F5344CB8AC3E}">
        <p14:creationId xmlns:p14="http://schemas.microsoft.com/office/powerpoint/2010/main" val="2887984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17383E-C6FC-49E7-A521-82BA6750D5ED}"/>
              </a:ext>
            </a:extLst>
          </p:cNvPr>
          <p:cNvPicPr>
            <a:picLocks noChangeAspect="1"/>
          </p:cNvPicPr>
          <p:nvPr/>
        </p:nvPicPr>
        <p:blipFill>
          <a:blip r:embed="rId2"/>
          <a:stretch>
            <a:fillRect/>
          </a:stretch>
        </p:blipFill>
        <p:spPr>
          <a:xfrm>
            <a:off x="174379" y="99322"/>
            <a:ext cx="1576960" cy="1178263"/>
          </a:xfrm>
          <a:prstGeom prst="rect">
            <a:avLst/>
          </a:prstGeom>
        </p:spPr>
      </p:pic>
      <p:pic>
        <p:nvPicPr>
          <p:cNvPr id="1032" name="Picture 8" descr="Anna University - Wikipedia">
            <a:extLst>
              <a:ext uri="{FF2B5EF4-FFF2-40B4-BE49-F238E27FC236}">
                <a16:creationId xmlns:a16="http://schemas.microsoft.com/office/drawing/2014/main" id="{D6A094F9-77C3-45C3-9A48-8D52C03CE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5085" y="88372"/>
            <a:ext cx="1306884" cy="11782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36F5FA9-0A71-48B8-AEAE-E35B120A096B}"/>
              </a:ext>
            </a:extLst>
          </p:cNvPr>
          <p:cNvSpPr txBox="1"/>
          <p:nvPr/>
        </p:nvSpPr>
        <p:spPr>
          <a:xfrm>
            <a:off x="1128419" y="1800692"/>
            <a:ext cx="7020042" cy="461665"/>
          </a:xfrm>
          <a:prstGeom prst="rect">
            <a:avLst/>
          </a:prstGeom>
          <a:noFill/>
        </p:spPr>
        <p:txBody>
          <a:bodyPr wrap="square">
            <a:spAutoFit/>
          </a:bodyPr>
          <a:lstStyle/>
          <a:p>
            <a:r>
              <a:rPr lang="en-US" sz="2400" b="1" dirty="0">
                <a:solidFill>
                  <a:srgbClr val="7030A0"/>
                </a:solidFill>
                <a:latin typeface="Times New Roman" panose="02020603050405020304" pitchFamily="18" charset="0"/>
              </a:rPr>
              <a:t>Department of Computer Science and Engineering </a:t>
            </a:r>
            <a:endParaRPr lang="en-IN" sz="2400" b="1" dirty="0">
              <a:solidFill>
                <a:srgbClr val="7030A0"/>
              </a:solidFill>
            </a:endParaRPr>
          </a:p>
        </p:txBody>
      </p:sp>
      <p:sp>
        <p:nvSpPr>
          <p:cNvPr id="9" name="TextBox 8">
            <a:extLst>
              <a:ext uri="{FF2B5EF4-FFF2-40B4-BE49-F238E27FC236}">
                <a16:creationId xmlns:a16="http://schemas.microsoft.com/office/drawing/2014/main" id="{E2AB4079-B959-438A-8887-B4E86C814C3D}"/>
              </a:ext>
            </a:extLst>
          </p:cNvPr>
          <p:cNvSpPr txBox="1"/>
          <p:nvPr/>
        </p:nvSpPr>
        <p:spPr>
          <a:xfrm>
            <a:off x="1657350" y="2449440"/>
            <a:ext cx="5512566" cy="873572"/>
          </a:xfrm>
          <a:prstGeom prst="rect">
            <a:avLst/>
          </a:prstGeom>
          <a:noFill/>
        </p:spPr>
        <p:txBody>
          <a:bodyPr wrap="square" rtlCol="0">
            <a:spAutoFit/>
          </a:bodyPr>
          <a:lstStyle/>
          <a:p>
            <a:pPr algn="ctr">
              <a:lnSpc>
                <a:spcPct val="150000"/>
              </a:lnSpc>
              <a:spcBef>
                <a:spcPts val="40"/>
              </a:spcBef>
              <a:spcAft>
                <a:spcPts val="800"/>
              </a:spcAft>
              <a:buNone/>
            </a:pPr>
            <a:r>
              <a:rPr lang="en-US" b="1" dirty="0">
                <a:latin typeface="Times New Roman" panose="02020603050405020304" pitchFamily="18" charset="0"/>
                <a:cs typeface="Times New Roman" panose="02020603050405020304" pitchFamily="18" charset="0"/>
              </a:rPr>
              <a:t>Enhanced Cyberbullying Detection System In Social Media Forensic Using Neural Network </a:t>
            </a:r>
            <a:endParaRPr lang="en-IN"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1330EC8A-088B-458F-9182-920EE3139846}"/>
              </a:ext>
            </a:extLst>
          </p:cNvPr>
          <p:cNvSpPr txBox="1"/>
          <p:nvPr/>
        </p:nvSpPr>
        <p:spPr>
          <a:xfrm>
            <a:off x="7371" y="5433021"/>
            <a:ext cx="4515233"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BATCH : D 16</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B14CB2B-BA40-B9F9-16FA-AA5B5E13E8EA}"/>
              </a:ext>
            </a:extLst>
          </p:cNvPr>
          <p:cNvSpPr txBox="1"/>
          <p:nvPr/>
        </p:nvSpPr>
        <p:spPr>
          <a:xfrm>
            <a:off x="1657350" y="3429000"/>
            <a:ext cx="5957735" cy="1499578"/>
          </a:xfrm>
          <a:prstGeom prst="rect">
            <a:avLst/>
          </a:prstGeom>
          <a:noFill/>
        </p:spPr>
        <p:txBody>
          <a:bodyPr wrap="square" rtlCol="0">
            <a:spAutoFit/>
          </a:bodyPr>
          <a:lstStyle/>
          <a:p>
            <a:pPr marR="122555" algn="ctr">
              <a:lnSpc>
                <a:spcPct val="150000"/>
              </a:lnSpc>
              <a:spcAft>
                <a:spcPts val="800"/>
              </a:spcAft>
            </a:pPr>
            <a:r>
              <a:rPr lang="en-US" b="1" kern="0" dirty="0">
                <a:latin typeface="Times New Roman" panose="02020603050405020304" pitchFamily="18" charset="0"/>
                <a:ea typeface="Times New Roman" panose="02020603050405020304" pitchFamily="18" charset="0"/>
                <a:cs typeface="Times New Roman" panose="02020603050405020304" pitchFamily="18" charset="0"/>
              </a:rPr>
              <a:t>KUMAR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K[211421104135] </a:t>
            </a:r>
            <a:endParaRPr lang="en-US" b="1" kern="0" dirty="0">
              <a:latin typeface="Times New Roman" panose="02020603050405020304" pitchFamily="18" charset="0"/>
              <a:ea typeface="Times New Roman" panose="02020603050405020304" pitchFamily="18" charset="0"/>
              <a:cs typeface="Times New Roman" panose="02020603050405020304" pitchFamily="18" charset="0"/>
            </a:endParaRPr>
          </a:p>
          <a:p>
            <a:pPr marR="122555" algn="ctr">
              <a:lnSpc>
                <a:spcPct val="150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LAKSHIMI NARAYANANA K[211421104136] </a:t>
            </a:r>
          </a:p>
          <a:p>
            <a:pPr marR="122555" algn="ctr">
              <a:lnSpc>
                <a:spcPct val="150000"/>
              </a:lnSpc>
              <a:spcAft>
                <a:spcPts val="800"/>
              </a:spcAft>
            </a:pPr>
            <a:r>
              <a:rPr lang="en-US" b="1" kern="0" dirty="0">
                <a:latin typeface="Times New Roman" panose="02020603050405020304" pitchFamily="18" charset="0"/>
                <a:ea typeface="Times New Roman" panose="02020603050405020304" pitchFamily="18" charset="0"/>
                <a:cs typeface="Times New Roman" panose="02020603050405020304" pitchFamily="18" charset="0"/>
              </a:rPr>
              <a:t>ABHIRAJ KANIFNATH MULAY</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[211421104316]</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8DA7E15F-5577-E472-5EEB-C46481EAA666}"/>
              </a:ext>
            </a:extLst>
          </p:cNvPr>
          <p:cNvSpPr txBox="1"/>
          <p:nvPr/>
        </p:nvSpPr>
        <p:spPr>
          <a:xfrm>
            <a:off x="5784980" y="5413383"/>
            <a:ext cx="3573623" cy="95410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Guide Name &amp; Designation	</a:t>
            </a:r>
          </a:p>
          <a:p>
            <a:r>
              <a:rPr lang="en-IN" sz="1400" b="1" dirty="0">
                <a:latin typeface="Times New Roman" panose="02020603050405020304" pitchFamily="18" charset="0"/>
                <a:cs typeface="Times New Roman" panose="02020603050405020304" pitchFamily="18" charset="0"/>
              </a:rPr>
              <a:t>Dr. KRISHNAMOORTHY  M </a:t>
            </a:r>
          </a:p>
          <a:p>
            <a:r>
              <a:rPr lang="en-IN" sz="1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ASSOCIATE PROFESSOR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17ACA5B2-7494-70D8-175E-1A0009147C93}"/>
              </a:ext>
            </a:extLst>
          </p:cNvPr>
          <p:cNvPicPr>
            <a:picLocks noChangeAspect="1"/>
          </p:cNvPicPr>
          <p:nvPr/>
        </p:nvPicPr>
        <p:blipFill>
          <a:blip r:embed="rId4"/>
          <a:stretch>
            <a:fillRect/>
          </a:stretch>
        </p:blipFill>
        <p:spPr>
          <a:xfrm>
            <a:off x="1418480" y="99322"/>
            <a:ext cx="6133822" cy="1263286"/>
          </a:xfrm>
          <a:prstGeom prst="rect">
            <a:avLst/>
          </a:prstGeom>
        </p:spPr>
      </p:pic>
    </p:spTree>
    <p:extLst>
      <p:ext uri="{BB962C8B-B14F-4D97-AF65-F5344CB8AC3E}">
        <p14:creationId xmlns:p14="http://schemas.microsoft.com/office/powerpoint/2010/main" val="989993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2735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Abstract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7BA443-99A8-7A6F-DA2E-441820D56F6D}"/>
              </a:ext>
            </a:extLst>
          </p:cNvPr>
          <p:cNvSpPr txBox="1"/>
          <p:nvPr/>
        </p:nvSpPr>
        <p:spPr>
          <a:xfrm>
            <a:off x="1120588" y="1604682"/>
            <a:ext cx="7394762"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45D9F22F-9785-92BD-DEA0-C2A68DD74A68}"/>
              </a:ext>
            </a:extLst>
          </p:cNvPr>
          <p:cNvSpPr txBox="1"/>
          <p:nvPr/>
        </p:nvSpPr>
        <p:spPr>
          <a:xfrm>
            <a:off x="628650" y="986705"/>
            <a:ext cx="7886700" cy="4901150"/>
          </a:xfrm>
          <a:prstGeom prst="rect">
            <a:avLst/>
          </a:prstGeom>
          <a:noFill/>
        </p:spPr>
        <p:txBody>
          <a:bodyPr wrap="square">
            <a:spAutoFit/>
          </a:bodyPr>
          <a:lstStyle/>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buNone/>
            </a:pPr>
            <a:r>
              <a:rPr lang="en-US" sz="1400" dirty="0">
                <a:latin typeface="Times New Roman" panose="02020603050405020304" pitchFamily="18" charset="0"/>
                <a:cs typeface="Times New Roman" panose="02020603050405020304" pitchFamily="18" charset="0"/>
              </a:rPr>
              <a:t>Cyberbullying on social media is a growing concern, affecting individuals emotionally and psychologically. Traditional detection methods struggle with informal language, sarcasm, and evolving online behavior. </a:t>
            </a:r>
          </a:p>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buNone/>
            </a:pPr>
            <a:r>
              <a:rPr lang="en-US" sz="1400" dirty="0">
                <a:latin typeface="Times New Roman" panose="02020603050405020304" pitchFamily="18" charset="0"/>
                <a:cs typeface="Times New Roman" panose="02020603050405020304" pitchFamily="18" charset="0"/>
              </a:rPr>
              <a:t>This project aims to enhance cyberbullying detection using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a transformer-based model known for its efficiency and accuracy. By leveraging deep learning techniques, the system analyzes social media text to classify cyberbullying instances effectively.</a:t>
            </a:r>
          </a:p>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proposed model outperforms traditional machine learning approaches like LSTM, </a:t>
            </a:r>
            <a:r>
              <a:rPr lang="en-US" sz="1400" dirty="0" err="1">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and conventional BERT, achieving improved accuracy in detecting harmful content. The system is trained on datasets from Twitter, Instagram, and Facebook, ensuring a robust and scalable solution. With this advancement, the project contributes to creating a safer digital space by providing an automated, high-accuracy cyberbullying detection system for social media forensic analysis. </a:t>
            </a:r>
          </a:p>
          <a:p>
            <a:pPr algn="just">
              <a:lnSpc>
                <a:spcPct val="150000"/>
              </a:lnSpc>
              <a:buNone/>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4014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3973-5CB2-B295-1E11-CA5D4A9BE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C7439-3E46-FB72-889A-830805CBE77B}"/>
              </a:ext>
            </a:extLst>
          </p:cNvPr>
          <p:cNvSpPr>
            <a:spLocks noGrp="1"/>
          </p:cNvSpPr>
          <p:nvPr>
            <p:ph type="title"/>
          </p:nvPr>
        </p:nvSpPr>
        <p:spPr>
          <a:xfrm>
            <a:off x="628650" y="2735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Introduction</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022CDF2-10EA-7F7B-6A0E-C3116661B0C2}"/>
              </a:ext>
            </a:extLst>
          </p:cNvPr>
          <p:cNvSpPr txBox="1"/>
          <p:nvPr/>
        </p:nvSpPr>
        <p:spPr>
          <a:xfrm>
            <a:off x="825910" y="1012724"/>
            <a:ext cx="7689440" cy="4893647"/>
          </a:xfrm>
          <a:prstGeom prst="rect">
            <a:avLst/>
          </a:prstGeom>
          <a:noFill/>
        </p:spPr>
        <p:txBody>
          <a:bodyPr wrap="square" rtlCol="0">
            <a:spAutoFit/>
          </a:bodyPr>
          <a:lstStyle/>
          <a:p>
            <a:pPr algn="just">
              <a:lnSpc>
                <a:spcPct val="150000"/>
              </a:lnSpc>
              <a:buNone/>
            </a:pP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a:p>
            <a:pPr algn="just">
              <a:lnSpc>
                <a:spcPct val="150000"/>
              </a:lnSpc>
              <a:buNone/>
            </a:pPr>
            <a:r>
              <a:rPr lang="en-US" sz="1400" dirty="0">
                <a:latin typeface="Times New Roman" panose="02020603050405020304" pitchFamily="18" charset="0"/>
                <a:ea typeface="Tahoma" panose="020B0604030504040204" pitchFamily="34" charset="0"/>
                <a:cs typeface="Times New Roman" panose="02020603050405020304" pitchFamily="18" charset="0"/>
              </a:rPr>
              <a:t>Cyberbullying has become a growing concern on social media, impacting users emotionally and mentally. The anonymity and wide reach of online platforms allow harmful content to spread quickly, making it challenging to detect and control. Many traditional detection systems rely on keyword-based filtering or basic machine learning models, which often fail to capture sarcasm, slang, and context-dependent bullying. These limitations create a need for more advanced and efficient detection methods.</a:t>
            </a:r>
          </a:p>
          <a:p>
            <a:pPr algn="just">
              <a:lnSpc>
                <a:spcPct val="150000"/>
              </a:lnSpc>
              <a:buNone/>
            </a:pP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a:p>
            <a:pPr algn="just">
              <a:lnSpc>
                <a:spcPct val="150000"/>
              </a:lnSpc>
            </a:pPr>
            <a:r>
              <a:rPr lang="en-US" sz="1400" dirty="0">
                <a:latin typeface="Times New Roman" panose="02020603050405020304" pitchFamily="18" charset="0"/>
                <a:ea typeface="Tahoma" panose="020B0604030504040204" pitchFamily="34" charset="0"/>
                <a:cs typeface="Times New Roman" panose="02020603050405020304" pitchFamily="18" charset="0"/>
              </a:rPr>
              <a:t>This project introduces an Enhanced Cyberbullying Detection System utilizing </a:t>
            </a:r>
            <a:r>
              <a:rPr lang="en-US" sz="1400" dirty="0" err="1">
                <a:latin typeface="Times New Roman" panose="02020603050405020304" pitchFamily="18" charset="0"/>
                <a:ea typeface="Tahoma" panose="020B0604030504040204" pitchFamily="34" charset="0"/>
                <a:cs typeface="Times New Roman" panose="02020603050405020304" pitchFamily="18" charset="0"/>
              </a:rPr>
              <a:t>DistilBERT</a:t>
            </a:r>
            <a:r>
              <a:rPr lang="en-US" sz="1400" dirty="0">
                <a:latin typeface="Times New Roman" panose="02020603050405020304" pitchFamily="18" charset="0"/>
                <a:ea typeface="Tahoma" panose="020B0604030504040204" pitchFamily="34" charset="0"/>
                <a:cs typeface="Times New Roman" panose="02020603050405020304" pitchFamily="18" charset="0"/>
              </a:rPr>
              <a:t>, a transformer-based model designed to improve accuracy and efficiency in text classification. By leveraging deep learning and natural language processing (NLP), the system can detect cyberbullying with better contextual understanding. Trained on datasets from Twitter, Instagram, and Facebook, it provides a scalable and effective solution compared to traditional approaches like LSTM and </a:t>
            </a:r>
            <a:r>
              <a:rPr lang="en-US" sz="1400" dirty="0" err="1">
                <a:latin typeface="Times New Roman" panose="02020603050405020304" pitchFamily="18" charset="0"/>
                <a:ea typeface="Tahoma" panose="020B0604030504040204" pitchFamily="34" charset="0"/>
                <a:cs typeface="Times New Roman" panose="02020603050405020304" pitchFamily="18" charset="0"/>
              </a:rPr>
              <a:t>BiLSTM</a:t>
            </a:r>
            <a:r>
              <a:rPr lang="en-US" sz="1400" dirty="0">
                <a:latin typeface="Times New Roman" panose="02020603050405020304" pitchFamily="18" charset="0"/>
                <a:ea typeface="Tahoma" panose="020B0604030504040204" pitchFamily="34" charset="0"/>
                <a:cs typeface="Times New Roman" panose="02020603050405020304" pitchFamily="18" charset="0"/>
              </a:rPr>
              <a:t>. This system aims to create a safer online space by enabling real-time monitoring and forensic analysis of harmful content</a:t>
            </a:r>
          </a:p>
          <a:p>
            <a:pPr algn="just"/>
            <a:endParaRPr lang="en-IN" dirty="0"/>
          </a:p>
        </p:txBody>
      </p:sp>
    </p:spTree>
    <p:extLst>
      <p:ext uri="{BB962C8B-B14F-4D97-AF65-F5344CB8AC3E}">
        <p14:creationId xmlns:p14="http://schemas.microsoft.com/office/powerpoint/2010/main" val="1211833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Objective of the Project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DD83260-2AC8-C07B-8257-C3162A72CC5D}"/>
              </a:ext>
            </a:extLst>
          </p:cNvPr>
          <p:cNvSpPr txBox="1"/>
          <p:nvPr/>
        </p:nvSpPr>
        <p:spPr>
          <a:xfrm>
            <a:off x="504190" y="1294793"/>
            <a:ext cx="8007350" cy="5228419"/>
          </a:xfrm>
          <a:prstGeom prst="rect">
            <a:avLst/>
          </a:prstGeom>
          <a:noFill/>
        </p:spPr>
        <p:txBody>
          <a:bodyPr wrap="square">
            <a:spAutoFit/>
          </a:bodyPr>
          <a:lstStyle/>
          <a:p>
            <a:pPr algn="just">
              <a:lnSpc>
                <a:spcPct val="150000"/>
              </a:lnSpc>
              <a:buNone/>
            </a:pPr>
            <a:r>
              <a:rPr lang="en-US" sz="1400" dirty="0">
                <a:latin typeface="Times New Roman" panose="02020603050405020304" pitchFamily="18" charset="0"/>
                <a:cs typeface="Times New Roman" panose="02020603050405020304" pitchFamily="18" charset="0"/>
              </a:rPr>
              <a:t>The primary objective of this project is to develop an Enhanced Cyberbullying Detection System that improves the accuracy and efficiency of detecting harmful content on social media. Cyberbullying is a widespread issue that negatively impacts users, particularly young individuals. Traditional detection methods struggle to handle informal language, sarcasm, and hidden meanings in online conversations, leading to misclassifications. This project aims to overcome these challenges by leveraging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a deep learning-based transformer model, to analyze and classify text effectively. By utilizing large datasets from platforms like Twitter, Instagram, and Facebook, the system will improve text classification accuracy and reduce false positives and false negatives in cyberbullying detection.</a:t>
            </a:r>
          </a:p>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Additionally, this project aims to build a fast, scalable, and real-time detection system that can be integrated into social media platforms and online communities. The system will enhance digital safety by identifying and flagging harmful content before it spreads. Future enhancements may include multilingual support, integration with image and video content analysis, and real-time reporting features. Ultimately, this project will contribute to creating a safer and more respectful online environment, ensuring that social media remains a positive space for communication and interaction. </a:t>
            </a:r>
          </a:p>
          <a:p>
            <a:pPr algn="just">
              <a:lnSpc>
                <a:spcPct val="150000"/>
              </a:lnSpc>
              <a:spcAft>
                <a:spcPts val="8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3226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8D289909-1297-D055-1FF1-F1AF7E50EF83}"/>
              </a:ext>
            </a:extLst>
          </p:cNvPr>
          <p:cNvGraphicFramePr>
            <a:graphicFrameLocks noGrp="1"/>
          </p:cNvGraphicFramePr>
          <p:nvPr>
            <p:extLst>
              <p:ext uri="{D42A27DB-BD31-4B8C-83A1-F6EECF244321}">
                <p14:modId xmlns:p14="http://schemas.microsoft.com/office/powerpoint/2010/main" val="819015167"/>
              </p:ext>
            </p:extLst>
          </p:nvPr>
        </p:nvGraphicFramePr>
        <p:xfrm>
          <a:off x="172719" y="1071716"/>
          <a:ext cx="8798561" cy="4807974"/>
        </p:xfrm>
        <a:graphic>
          <a:graphicData uri="http://schemas.openxmlformats.org/drawingml/2006/table">
            <a:tbl>
              <a:tblPr firstRow="1" bandRow="1">
                <a:tableStyleId>{5C22544A-7EE6-4342-B048-85BDC9FD1C3A}</a:tableStyleId>
              </a:tblPr>
              <a:tblGrid>
                <a:gridCol w="477520">
                  <a:extLst>
                    <a:ext uri="{9D8B030D-6E8A-4147-A177-3AD203B41FA5}">
                      <a16:colId xmlns:a16="http://schemas.microsoft.com/office/drawing/2014/main" val="576573816"/>
                    </a:ext>
                  </a:extLst>
                </a:gridCol>
                <a:gridCol w="2123440">
                  <a:extLst>
                    <a:ext uri="{9D8B030D-6E8A-4147-A177-3AD203B41FA5}">
                      <a16:colId xmlns:a16="http://schemas.microsoft.com/office/drawing/2014/main" val="4030395792"/>
                    </a:ext>
                  </a:extLst>
                </a:gridCol>
                <a:gridCol w="2397760">
                  <a:extLst>
                    <a:ext uri="{9D8B030D-6E8A-4147-A177-3AD203B41FA5}">
                      <a16:colId xmlns:a16="http://schemas.microsoft.com/office/drawing/2014/main" val="4088465073"/>
                    </a:ext>
                  </a:extLst>
                </a:gridCol>
                <a:gridCol w="1803442">
                  <a:extLst>
                    <a:ext uri="{9D8B030D-6E8A-4147-A177-3AD203B41FA5}">
                      <a16:colId xmlns:a16="http://schemas.microsoft.com/office/drawing/2014/main" val="3010328163"/>
                    </a:ext>
                  </a:extLst>
                </a:gridCol>
                <a:gridCol w="878412">
                  <a:extLst>
                    <a:ext uri="{9D8B030D-6E8A-4147-A177-3AD203B41FA5}">
                      <a16:colId xmlns:a16="http://schemas.microsoft.com/office/drawing/2014/main" val="2019138274"/>
                    </a:ext>
                  </a:extLst>
                </a:gridCol>
                <a:gridCol w="1117987">
                  <a:extLst>
                    <a:ext uri="{9D8B030D-6E8A-4147-A177-3AD203B41FA5}">
                      <a16:colId xmlns:a16="http://schemas.microsoft.com/office/drawing/2014/main" val="3692483625"/>
                    </a:ext>
                  </a:extLst>
                </a:gridCol>
              </a:tblGrid>
              <a:tr h="1139063">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Title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Source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Pages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Date</a:t>
                      </a:r>
                    </a:p>
                  </a:txBody>
                  <a:tcPr/>
                </a:tc>
                <a:extLst>
                  <a:ext uri="{0D108BD9-81ED-4DB2-BD59-A6C34878D82A}">
                    <a16:rowId xmlns:a16="http://schemas.microsoft.com/office/drawing/2014/main" val="706909398"/>
                  </a:ext>
                </a:extLst>
              </a:tr>
              <a:tr h="1549173">
                <a:tc>
                  <a:txBody>
                    <a:bodyPr/>
                    <a:lstStyle/>
                    <a:p>
                      <a:pPr>
                        <a:lnSpc>
                          <a:spcPct val="150000"/>
                        </a:lnSpc>
                      </a:pPr>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Jamil et al.</a:t>
                      </a:r>
                    </a:p>
                  </a:txBody>
                  <a:tcPr/>
                </a:tc>
                <a:tc>
                  <a:txBody>
                    <a:bodyPr/>
                    <a:lstStyle/>
                    <a:p>
                      <a:pPr algn="just">
                        <a:lnSpc>
                          <a:spcPct val="150000"/>
                        </a:lnSpc>
                      </a:pPr>
                      <a:r>
                        <a:rPr lang="en-US" sz="1400" dirty="0" err="1">
                          <a:latin typeface="Times New Roman" panose="02020603050405020304" pitchFamily="18" charset="0"/>
                          <a:cs typeface="Times New Roman" panose="02020603050405020304" pitchFamily="18" charset="0"/>
                        </a:rPr>
                        <a:t>GreenShip</a:t>
                      </a:r>
                      <a:r>
                        <a:rPr lang="en-US" sz="1400" dirty="0">
                          <a:latin typeface="Times New Roman" panose="02020603050405020304" pitchFamily="18" charset="0"/>
                          <a:cs typeface="Times New Roman" panose="02020603050405020304" pitchFamily="18" charset="0"/>
                        </a:rPr>
                        <a:t>: A Social Networking Model for Cyberbullying Mitigation</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400" dirty="0">
                          <a:latin typeface="Times New Roman" panose="02020603050405020304" pitchFamily="18" charset="0"/>
                          <a:cs typeface="Times New Roman" panose="02020603050405020304" pitchFamily="18" charset="0"/>
                        </a:rPr>
                        <a:t>Journal/Conference</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5</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2011</a:t>
                      </a:r>
                    </a:p>
                  </a:txBody>
                  <a:tcPr/>
                </a:tc>
                <a:extLst>
                  <a:ext uri="{0D108BD9-81ED-4DB2-BD59-A6C34878D82A}">
                    <a16:rowId xmlns:a16="http://schemas.microsoft.com/office/drawing/2014/main" val="218012150"/>
                  </a:ext>
                </a:extLst>
              </a:tr>
              <a:tr h="1059869">
                <a:tc>
                  <a:txBody>
                    <a:bodyPr/>
                    <a:lstStyle/>
                    <a:p>
                      <a:pPr>
                        <a:lnSpc>
                          <a:spcPct val="150000"/>
                        </a:lnSpc>
                      </a:pPr>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Roy et al. </a:t>
                      </a:r>
                    </a:p>
                  </a:txBody>
                  <a:tcPr anchor="ctr"/>
                </a:tc>
                <a:tc>
                  <a:txBody>
                    <a:bodyPr/>
                    <a:lstStyle/>
                    <a:p>
                      <a:pPr algn="just">
                        <a:lnSpc>
                          <a:spcPct val="150000"/>
                        </a:lnSpc>
                      </a:pPr>
                      <a:r>
                        <a:rPr lang="en-US" sz="1400" dirty="0">
                          <a:latin typeface="Times New Roman" panose="02020603050405020304" pitchFamily="18" charset="0"/>
                          <a:cs typeface="Times New Roman" panose="02020603050405020304" pitchFamily="18" charset="0"/>
                        </a:rPr>
                        <a:t>Hate Speech Detection on Twitter: A Comparison of ML and DL Models</a:t>
                      </a:r>
                    </a:p>
                  </a:txBody>
                  <a:tcPr anchor="ctr"/>
                </a:tc>
                <a:tc>
                  <a:txBody>
                    <a:bodyPr/>
                    <a:lstStyle/>
                    <a:p>
                      <a:pPr algn="just">
                        <a:lnSpc>
                          <a:spcPct val="150000"/>
                        </a:lnSpc>
                      </a:pPr>
                      <a:r>
                        <a:rPr lang="en-US" sz="1400" dirty="0">
                          <a:latin typeface="Times New Roman" panose="02020603050405020304" pitchFamily="18" charset="0"/>
                          <a:cs typeface="Times New Roman" panose="02020603050405020304" pitchFamily="18" charset="0"/>
                        </a:rPr>
                        <a:t>SpringerLink</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35 - 44</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2020</a:t>
                      </a:r>
                    </a:p>
                  </a:txBody>
                  <a:tcPr anchor="ctr"/>
                </a:tc>
                <a:extLst>
                  <a:ext uri="{0D108BD9-81ED-4DB2-BD59-A6C34878D82A}">
                    <a16:rowId xmlns:a16="http://schemas.microsoft.com/office/drawing/2014/main" val="1270453431"/>
                  </a:ext>
                </a:extLst>
              </a:tr>
              <a:tr h="1059869">
                <a:tc>
                  <a:txBody>
                    <a:bodyPr/>
                    <a:lstStyle/>
                    <a:p>
                      <a:pPr>
                        <a:lnSpc>
                          <a:spcPct val="150000"/>
                        </a:lnSpc>
                      </a:pPr>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Rasel et al.</a:t>
                      </a:r>
                    </a:p>
                  </a:txBody>
                  <a:tcPr anchor="ctr"/>
                </a:tc>
                <a:tc>
                  <a:txBody>
                    <a:bodyPr/>
                    <a:lstStyle/>
                    <a:p>
                      <a:pPr algn="just">
                        <a:lnSpc>
                          <a:spcPct val="150000"/>
                        </a:lnSpc>
                      </a:pPr>
                      <a:r>
                        <a:rPr lang="en-US" sz="1400" dirty="0">
                          <a:latin typeface="Times New Roman" panose="02020603050405020304" pitchFamily="18" charset="0"/>
                          <a:cs typeface="Times New Roman" panose="02020603050405020304" pitchFamily="18" charset="0"/>
                        </a:rPr>
                        <a:t>Offensive Comment Detection Using LSA and Machine Learning</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dirty="0"/>
                        <a:t>J</a:t>
                      </a:r>
                      <a:r>
                        <a:rPr lang="en-IN" sz="1400" dirty="0">
                          <a:latin typeface="Times New Roman" panose="02020603050405020304" pitchFamily="18" charset="0"/>
                          <a:cs typeface="Times New Roman" panose="02020603050405020304" pitchFamily="18" charset="0"/>
                        </a:rPr>
                        <a:t>ournal/Conference</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10</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2016</a:t>
                      </a:r>
                    </a:p>
                  </a:txBody>
                  <a:tcPr anchor="ctr"/>
                </a:tc>
                <a:extLst>
                  <a:ext uri="{0D108BD9-81ED-4DB2-BD59-A6C34878D82A}">
                    <a16:rowId xmlns:a16="http://schemas.microsoft.com/office/drawing/2014/main" val="506451226"/>
                  </a:ext>
                </a:extLst>
              </a:tr>
            </a:tbl>
          </a:graphicData>
        </a:graphic>
      </p:graphicFrame>
    </p:spTree>
    <p:extLst>
      <p:ext uri="{BB962C8B-B14F-4D97-AF65-F5344CB8AC3E}">
        <p14:creationId xmlns:p14="http://schemas.microsoft.com/office/powerpoint/2010/main" val="3343324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F8CB90D-3601-C441-3CD0-E8AE773465E3}"/>
              </a:ext>
            </a:extLst>
          </p:cNvPr>
          <p:cNvGraphicFramePr>
            <a:graphicFrameLocks noGrp="1"/>
          </p:cNvGraphicFramePr>
          <p:nvPr>
            <p:extLst>
              <p:ext uri="{D42A27DB-BD31-4B8C-83A1-F6EECF244321}">
                <p14:modId xmlns:p14="http://schemas.microsoft.com/office/powerpoint/2010/main" val="3048843201"/>
              </p:ext>
            </p:extLst>
          </p:nvPr>
        </p:nvGraphicFramePr>
        <p:xfrm>
          <a:off x="233680" y="970280"/>
          <a:ext cx="8641078" cy="5074921"/>
        </p:xfrm>
        <a:graphic>
          <a:graphicData uri="http://schemas.openxmlformats.org/drawingml/2006/table">
            <a:tbl>
              <a:tblPr firstRow="1" bandRow="1">
                <a:tableStyleId>{5C22544A-7EE6-4342-B048-85BDC9FD1C3A}</a:tableStyleId>
              </a:tblPr>
              <a:tblGrid>
                <a:gridCol w="576411">
                  <a:extLst>
                    <a:ext uri="{9D8B030D-6E8A-4147-A177-3AD203B41FA5}">
                      <a16:colId xmlns:a16="http://schemas.microsoft.com/office/drawing/2014/main" val="1143148145"/>
                    </a:ext>
                  </a:extLst>
                </a:gridCol>
                <a:gridCol w="1856761">
                  <a:extLst>
                    <a:ext uri="{9D8B030D-6E8A-4147-A177-3AD203B41FA5}">
                      <a16:colId xmlns:a16="http://schemas.microsoft.com/office/drawing/2014/main" val="2211825958"/>
                    </a:ext>
                  </a:extLst>
                </a:gridCol>
                <a:gridCol w="2438274">
                  <a:extLst>
                    <a:ext uri="{9D8B030D-6E8A-4147-A177-3AD203B41FA5}">
                      <a16:colId xmlns:a16="http://schemas.microsoft.com/office/drawing/2014/main" val="1010670947"/>
                    </a:ext>
                  </a:extLst>
                </a:gridCol>
                <a:gridCol w="1775145">
                  <a:extLst>
                    <a:ext uri="{9D8B030D-6E8A-4147-A177-3AD203B41FA5}">
                      <a16:colId xmlns:a16="http://schemas.microsoft.com/office/drawing/2014/main" val="2712518243"/>
                    </a:ext>
                  </a:extLst>
                </a:gridCol>
                <a:gridCol w="1030400">
                  <a:extLst>
                    <a:ext uri="{9D8B030D-6E8A-4147-A177-3AD203B41FA5}">
                      <a16:colId xmlns:a16="http://schemas.microsoft.com/office/drawing/2014/main" val="4064174825"/>
                    </a:ext>
                  </a:extLst>
                </a:gridCol>
                <a:gridCol w="964087">
                  <a:extLst>
                    <a:ext uri="{9D8B030D-6E8A-4147-A177-3AD203B41FA5}">
                      <a16:colId xmlns:a16="http://schemas.microsoft.com/office/drawing/2014/main" val="2072755696"/>
                    </a:ext>
                  </a:extLst>
                </a:gridCol>
              </a:tblGrid>
              <a:tr h="749620">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Title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Source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Pages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Date</a:t>
                      </a:r>
                    </a:p>
                  </a:txBody>
                  <a:tcPr/>
                </a:tc>
                <a:extLst>
                  <a:ext uri="{0D108BD9-81ED-4DB2-BD59-A6C34878D82A}">
                    <a16:rowId xmlns:a16="http://schemas.microsoft.com/office/drawing/2014/main" val="1750278374"/>
                  </a:ext>
                </a:extLst>
              </a:tr>
              <a:tr h="1441767">
                <a:tc>
                  <a:txBody>
                    <a:bodyPr/>
                    <a:lstStyle/>
                    <a:p>
                      <a:pPr>
                        <a:lnSpc>
                          <a:spcPct val="150000"/>
                        </a:lnSpc>
                      </a:pPr>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dirty="0" err="1">
                          <a:latin typeface="Times New Roman" panose="02020603050405020304" pitchFamily="18" charset="0"/>
                          <a:cs typeface="Times New Roman" panose="02020603050405020304" pitchFamily="18" charset="0"/>
                        </a:rPr>
                        <a:t>Kargutkar</a:t>
                      </a:r>
                      <a:r>
                        <a:rPr lang="en-IN" sz="1400" dirty="0">
                          <a:latin typeface="Times New Roman" panose="02020603050405020304" pitchFamily="18" charset="0"/>
                          <a:cs typeface="Times New Roman" panose="02020603050405020304" pitchFamily="18" charset="0"/>
                        </a:rPr>
                        <a:t> et al</a:t>
                      </a:r>
                      <a:endParaRPr lang="fi-FI" sz="1400" dirty="0">
                        <a:latin typeface="Times New Roman" panose="02020603050405020304" pitchFamily="18" charset="0"/>
                        <a:cs typeface="Times New Roman" panose="02020603050405020304" pitchFamily="18" charset="0"/>
                      </a:endParaRPr>
                    </a:p>
                  </a:txBody>
                  <a:tcPr anchor="ctr"/>
                </a:tc>
                <a:tc>
                  <a:txBody>
                    <a:bodyPr/>
                    <a:lstStyle/>
                    <a:p>
                      <a:pPr algn="just">
                        <a:lnSpc>
                          <a:spcPct val="150000"/>
                        </a:lnSpc>
                      </a:pPr>
                      <a:r>
                        <a:rPr lang="en-US" sz="1400" dirty="0">
                          <a:latin typeface="Times New Roman" panose="02020603050405020304" pitchFamily="18" charset="0"/>
                          <a:cs typeface="Times New Roman" panose="02020603050405020304" pitchFamily="18" charset="0"/>
                        </a:rPr>
                        <a:t>CNN-Based Cyberbullying Detection on Social Media</a:t>
                      </a:r>
                    </a:p>
                  </a:txBody>
                  <a:tcPr anchor="ctr"/>
                </a:tc>
                <a:tc>
                  <a:txBody>
                    <a:bodyPr/>
                    <a:lstStyle/>
                    <a:p>
                      <a:pPr>
                        <a:lnSpc>
                          <a:spcPct val="150000"/>
                        </a:lnSpc>
                      </a:pPr>
                      <a:r>
                        <a:rPr lang="en-IN" sz="1400" dirty="0">
                          <a:latin typeface="Times New Roman" panose="02020603050405020304" pitchFamily="18" charset="0"/>
                          <a:ea typeface="YouYuan" panose="02010509060101010101" pitchFamily="49" charset="-122"/>
                          <a:cs typeface="Times New Roman" panose="02020603050405020304" pitchFamily="18" charset="0"/>
                        </a:rPr>
                        <a:t>Journal of AI &amp; Society</a:t>
                      </a:r>
                      <a:endParaRPr lang="en-US" sz="1400" dirty="0">
                        <a:latin typeface="Times New Roman" panose="02020603050405020304" pitchFamily="18" charset="0"/>
                        <a:ea typeface="YouYuan" panose="02010509060101010101" pitchFamily="49" charset="-122"/>
                        <a:cs typeface="Times New Roman" panose="02020603050405020304" pitchFamily="18" charset="0"/>
                      </a:endParaRP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12</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2017</a:t>
                      </a:r>
                    </a:p>
                  </a:txBody>
                  <a:tcPr anchor="ctr"/>
                </a:tc>
                <a:extLst>
                  <a:ext uri="{0D108BD9-81ED-4DB2-BD59-A6C34878D82A}">
                    <a16:rowId xmlns:a16="http://schemas.microsoft.com/office/drawing/2014/main" val="1701730274"/>
                  </a:ext>
                </a:extLst>
              </a:tr>
              <a:tr h="1441767">
                <a:tc>
                  <a:txBody>
                    <a:bodyPr/>
                    <a:lstStyle/>
                    <a:p>
                      <a:pPr>
                        <a:lnSpc>
                          <a:spcPct val="150000"/>
                        </a:lnSpc>
                      </a:pPr>
                      <a:r>
                        <a:rPr lang="en-US" sz="1400" dirty="0">
                          <a:latin typeface="Times New Roman" panose="02020603050405020304" pitchFamily="18" charset="0"/>
                          <a:cs typeface="Times New Roman" panose="02020603050405020304" pitchFamily="18" charset="0"/>
                        </a:rPr>
                        <a:t>5</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400" dirty="0">
                          <a:latin typeface="Times New Roman" panose="02020603050405020304" pitchFamily="18" charset="0"/>
                          <a:cs typeface="Times New Roman" panose="02020603050405020304" pitchFamily="18" charset="0"/>
                        </a:rPr>
                        <a:t>Dalvi et al.</a:t>
                      </a:r>
                    </a:p>
                  </a:txBody>
                  <a:tcPr anchor="ctr"/>
                </a:tc>
                <a:tc>
                  <a:txBody>
                    <a:bodyPr/>
                    <a:lstStyle/>
                    <a:p>
                      <a:pPr algn="just">
                        <a:lnSpc>
                          <a:spcPct val="150000"/>
                        </a:lnSpc>
                      </a:pPr>
                      <a:r>
                        <a:rPr lang="en-US" sz="1400" dirty="0">
                          <a:latin typeface="Times New Roman" panose="02020603050405020304" pitchFamily="18" charset="0"/>
                          <a:cs typeface="Times New Roman" panose="02020603050405020304" pitchFamily="18" charset="0"/>
                        </a:rPr>
                        <a:t>Cyberbullying Detection Using SVM and Naïve Bayes on Twitter</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Journal/conference</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15</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2018</a:t>
                      </a:r>
                    </a:p>
                  </a:txBody>
                  <a:tcPr anchor="ctr"/>
                </a:tc>
                <a:extLst>
                  <a:ext uri="{0D108BD9-81ED-4DB2-BD59-A6C34878D82A}">
                    <a16:rowId xmlns:a16="http://schemas.microsoft.com/office/drawing/2014/main" val="2899514203"/>
                  </a:ext>
                </a:extLst>
              </a:tr>
              <a:tr h="1441767">
                <a:tc>
                  <a:txBody>
                    <a:bodyPr/>
                    <a:lstStyle/>
                    <a:p>
                      <a:pPr>
                        <a:lnSpc>
                          <a:spcPct val="150000"/>
                        </a:lnSpc>
                      </a:pPr>
                      <a:r>
                        <a:rPr lang="en-US" sz="1400" dirty="0">
                          <a:latin typeface="Times New Roman" panose="02020603050405020304" pitchFamily="18" charset="0"/>
                          <a:cs typeface="Times New Roman" panose="02020603050405020304" pitchFamily="18" charset="0"/>
                        </a:rPr>
                        <a:t>6</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dirty="0" err="1">
                          <a:latin typeface="Times New Roman" panose="02020603050405020304" pitchFamily="18" charset="0"/>
                          <a:cs typeface="Times New Roman" panose="02020603050405020304" pitchFamily="18" charset="0"/>
                        </a:rPr>
                        <a:t>Tsapatsoulis</a:t>
                      </a:r>
                      <a:r>
                        <a:rPr lang="en-IN" sz="1400" dirty="0">
                          <a:latin typeface="Times New Roman" panose="02020603050405020304" pitchFamily="18" charset="0"/>
                          <a:cs typeface="Times New Roman" panose="02020603050405020304" pitchFamily="18" charset="0"/>
                        </a:rPr>
                        <a:t> et al. </a:t>
                      </a:r>
                    </a:p>
                  </a:txBody>
                  <a:tcPr anchor="ctr"/>
                </a:tc>
                <a:tc>
                  <a:txBody>
                    <a:bodyPr/>
                    <a:lstStyle/>
                    <a:p>
                      <a:pPr>
                        <a:lnSpc>
                          <a:spcPct val="150000"/>
                        </a:lnSpc>
                      </a:pPr>
                      <a:r>
                        <a:rPr lang="en-US" sz="1400" dirty="0">
                          <a:latin typeface="Times New Roman" panose="02020603050405020304" pitchFamily="18" charset="0"/>
                          <a:cs typeface="Times New Roman" panose="02020603050405020304" pitchFamily="18" charset="0"/>
                        </a:rPr>
                        <a:t>Feature Selection and Hybrid Models for Cyberbullying Detection</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SIAM Conference on Data Mining</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7</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2019</a:t>
                      </a:r>
                    </a:p>
                  </a:txBody>
                  <a:tcPr anchor="ctr"/>
                </a:tc>
                <a:extLst>
                  <a:ext uri="{0D108BD9-81ED-4DB2-BD59-A6C34878D82A}">
                    <a16:rowId xmlns:a16="http://schemas.microsoft.com/office/drawing/2014/main" val="3653111569"/>
                  </a:ext>
                </a:extLst>
              </a:tr>
            </a:tbl>
          </a:graphicData>
        </a:graphic>
      </p:graphicFrame>
    </p:spTree>
    <p:extLst>
      <p:ext uri="{BB962C8B-B14F-4D97-AF65-F5344CB8AC3E}">
        <p14:creationId xmlns:p14="http://schemas.microsoft.com/office/powerpoint/2010/main" val="3295057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BD10D82-C96D-4424-D4A9-4017FD50DF61}"/>
              </a:ext>
            </a:extLst>
          </p:cNvPr>
          <p:cNvGraphicFramePr>
            <a:graphicFrameLocks noGrp="1"/>
          </p:cNvGraphicFramePr>
          <p:nvPr>
            <p:extLst>
              <p:ext uri="{D42A27DB-BD31-4B8C-83A1-F6EECF244321}">
                <p14:modId xmlns:p14="http://schemas.microsoft.com/office/powerpoint/2010/main" val="2585325964"/>
              </p:ext>
            </p:extLst>
          </p:nvPr>
        </p:nvGraphicFramePr>
        <p:xfrm>
          <a:off x="182880" y="970279"/>
          <a:ext cx="8783955" cy="4708626"/>
        </p:xfrm>
        <a:graphic>
          <a:graphicData uri="http://schemas.openxmlformats.org/drawingml/2006/table">
            <a:tbl>
              <a:tblPr firstRow="1" bandRow="1">
                <a:tableStyleId>{5C22544A-7EE6-4342-B048-85BDC9FD1C3A}</a:tableStyleId>
              </a:tblPr>
              <a:tblGrid>
                <a:gridCol w="350344">
                  <a:extLst>
                    <a:ext uri="{9D8B030D-6E8A-4147-A177-3AD203B41FA5}">
                      <a16:colId xmlns:a16="http://schemas.microsoft.com/office/drawing/2014/main" val="61784877"/>
                    </a:ext>
                  </a:extLst>
                </a:gridCol>
                <a:gridCol w="1875262">
                  <a:extLst>
                    <a:ext uri="{9D8B030D-6E8A-4147-A177-3AD203B41FA5}">
                      <a16:colId xmlns:a16="http://schemas.microsoft.com/office/drawing/2014/main" val="1496141223"/>
                    </a:ext>
                  </a:extLst>
                </a:gridCol>
                <a:gridCol w="2838235">
                  <a:extLst>
                    <a:ext uri="{9D8B030D-6E8A-4147-A177-3AD203B41FA5}">
                      <a16:colId xmlns:a16="http://schemas.microsoft.com/office/drawing/2014/main" val="1811734773"/>
                    </a:ext>
                  </a:extLst>
                </a:gridCol>
                <a:gridCol w="1832144">
                  <a:extLst>
                    <a:ext uri="{9D8B030D-6E8A-4147-A177-3AD203B41FA5}">
                      <a16:colId xmlns:a16="http://schemas.microsoft.com/office/drawing/2014/main" val="3745820782"/>
                    </a:ext>
                  </a:extLst>
                </a:gridCol>
                <a:gridCol w="1067557">
                  <a:extLst>
                    <a:ext uri="{9D8B030D-6E8A-4147-A177-3AD203B41FA5}">
                      <a16:colId xmlns:a16="http://schemas.microsoft.com/office/drawing/2014/main" val="23079628"/>
                    </a:ext>
                  </a:extLst>
                </a:gridCol>
                <a:gridCol w="820413">
                  <a:extLst>
                    <a:ext uri="{9D8B030D-6E8A-4147-A177-3AD203B41FA5}">
                      <a16:colId xmlns:a16="http://schemas.microsoft.com/office/drawing/2014/main" val="1284052149"/>
                    </a:ext>
                  </a:extLst>
                </a:gridCol>
              </a:tblGrid>
              <a:tr h="865588">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Title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Source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Pages	</a:t>
                      </a: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Date</a:t>
                      </a:r>
                    </a:p>
                  </a:txBody>
                  <a:tcPr/>
                </a:tc>
                <a:extLst>
                  <a:ext uri="{0D108BD9-81ED-4DB2-BD59-A6C34878D82A}">
                    <a16:rowId xmlns:a16="http://schemas.microsoft.com/office/drawing/2014/main" val="76762108"/>
                  </a:ext>
                </a:extLst>
              </a:tr>
              <a:tr h="979534">
                <a:tc>
                  <a:txBody>
                    <a:bodyPr/>
                    <a:lstStyle/>
                    <a:p>
                      <a:pPr>
                        <a:lnSpc>
                          <a:spcPct val="150000"/>
                        </a:lnSpc>
                      </a:pPr>
                      <a:r>
                        <a:rPr lang="en-US" sz="1400" dirty="0">
                          <a:latin typeface="Times New Roman" panose="02020603050405020304" pitchFamily="18" charset="0"/>
                          <a:cs typeface="Times New Roman" panose="02020603050405020304" pitchFamily="18" charset="0"/>
                        </a:rPr>
                        <a:t>7</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Yadav et al. </a:t>
                      </a:r>
                      <a:endParaRPr lang="pt-BR" sz="1400" dirty="0">
                        <a:latin typeface="Times New Roman" panose="02020603050405020304" pitchFamily="18" charset="0"/>
                        <a:cs typeface="Times New Roman" panose="02020603050405020304" pitchFamily="18" charset="0"/>
                      </a:endParaRPr>
                    </a:p>
                  </a:txBody>
                  <a:tcPr anchor="ctr"/>
                </a:tc>
                <a:tc>
                  <a:txBody>
                    <a:bodyPr/>
                    <a:lstStyle/>
                    <a:p>
                      <a:pPr algn="just">
                        <a:lnSpc>
                          <a:spcPct val="150000"/>
                        </a:lnSpc>
                      </a:pPr>
                      <a:r>
                        <a:rPr lang="en-IN" sz="1400" dirty="0">
                          <a:latin typeface="Times New Roman" panose="02020603050405020304" pitchFamily="18" charset="0"/>
                          <a:cs typeface="Times New Roman" panose="02020603050405020304" pitchFamily="18" charset="0"/>
                        </a:rPr>
                        <a:t>BERT-Based Cyberbullying Detection System</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dirty="0"/>
                        <a:t>IEEE Transactions on Cybernetics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9</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2021</a:t>
                      </a:r>
                    </a:p>
                  </a:txBody>
                  <a:tcPr anchor="ctr"/>
                </a:tc>
                <a:extLst>
                  <a:ext uri="{0D108BD9-81ED-4DB2-BD59-A6C34878D82A}">
                    <a16:rowId xmlns:a16="http://schemas.microsoft.com/office/drawing/2014/main" val="1322914538"/>
                  </a:ext>
                </a:extLst>
              </a:tr>
              <a:tr h="1431752">
                <a:tc>
                  <a:txBody>
                    <a:bodyPr/>
                    <a:lstStyle/>
                    <a:p>
                      <a:pPr>
                        <a:lnSpc>
                          <a:spcPct val="150000"/>
                        </a:lnSpc>
                      </a:pPr>
                      <a:r>
                        <a:rPr lang="en-US" sz="1400" dirty="0">
                          <a:latin typeface="Times New Roman" panose="02020603050405020304" pitchFamily="18" charset="0"/>
                          <a:cs typeface="Times New Roman" panose="02020603050405020304" pitchFamily="18" charset="0"/>
                        </a:rPr>
                        <a:t>8</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Di Capua et al.</a:t>
                      </a:r>
                    </a:p>
                  </a:txBody>
                  <a:tcPr anchor="ctr"/>
                </a:tc>
                <a:tc>
                  <a:txBody>
                    <a:bodyPr/>
                    <a:lstStyle/>
                    <a:p>
                      <a:pPr>
                        <a:lnSpc>
                          <a:spcPct val="150000"/>
                        </a:lnSpc>
                      </a:pPr>
                      <a:r>
                        <a:rPr lang="en-US" sz="1400" dirty="0">
                          <a:latin typeface="Times New Roman" panose="02020603050405020304" pitchFamily="18" charset="0"/>
                          <a:cs typeface="Times New Roman" panose="02020603050405020304" pitchFamily="18" charset="0"/>
                        </a:rPr>
                        <a:t>Unsupervised Cyberbullying Detection Using GHSOM and k-Means</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Springer - Neural Computing</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14</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 2022</a:t>
                      </a:r>
                    </a:p>
                  </a:txBody>
                  <a:tcPr anchor="ctr"/>
                </a:tc>
                <a:extLst>
                  <a:ext uri="{0D108BD9-81ED-4DB2-BD59-A6C34878D82A}">
                    <a16:rowId xmlns:a16="http://schemas.microsoft.com/office/drawing/2014/main" val="3234125251"/>
                  </a:ext>
                </a:extLst>
              </a:tr>
              <a:tr h="1431752">
                <a:tc>
                  <a:txBody>
                    <a:bodyPr/>
                    <a:lstStyle/>
                    <a:p>
                      <a:pPr>
                        <a:lnSpc>
                          <a:spcPct val="150000"/>
                        </a:lnSpc>
                      </a:pPr>
                      <a:r>
                        <a:rPr lang="en-US" sz="1400" dirty="0">
                          <a:latin typeface="Times New Roman" panose="02020603050405020304" pitchFamily="18" charset="0"/>
                          <a:cs typeface="Times New Roman" panose="02020603050405020304" pitchFamily="18" charset="0"/>
                        </a:rPr>
                        <a:t>9</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400" dirty="0">
                          <a:latin typeface="Times New Roman" panose="02020603050405020304" pitchFamily="18" charset="0"/>
                          <a:cs typeface="Times New Roman" panose="02020603050405020304" pitchFamily="18" charset="0"/>
                        </a:rPr>
                        <a:t>Trana et al.</a:t>
                      </a:r>
                    </a:p>
                  </a:txBody>
                  <a:tcPr anchor="ctr"/>
                </a:tc>
                <a:tc>
                  <a:txBody>
                    <a:bodyPr/>
                    <a:lstStyle/>
                    <a:p>
                      <a:pPr>
                        <a:lnSpc>
                          <a:spcPct val="150000"/>
                        </a:lnSpc>
                      </a:pPr>
                      <a:r>
                        <a:rPr lang="en-US" sz="1400" dirty="0">
                          <a:latin typeface="Times New Roman" panose="02020603050405020304" pitchFamily="18" charset="0"/>
                          <a:cs typeface="Times New Roman" panose="02020603050405020304" pitchFamily="18" charset="0"/>
                        </a:rPr>
                        <a:t>Multimodal Cyberbullying Detection in YouTube Memes</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ACM Digital Library</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11</a:t>
                      </a:r>
                    </a:p>
                  </a:txBody>
                  <a:tcPr anchor="ctr"/>
                </a:tc>
                <a:tc>
                  <a:txBody>
                    <a:bodyPr/>
                    <a:lstStyle/>
                    <a:p>
                      <a:pPr>
                        <a:lnSpc>
                          <a:spcPct val="150000"/>
                        </a:lnSpc>
                      </a:pPr>
                      <a:r>
                        <a:rPr lang="en-IN" sz="1400" dirty="0">
                          <a:latin typeface="Times New Roman" panose="02020603050405020304" pitchFamily="18" charset="0"/>
                          <a:cs typeface="Times New Roman" panose="02020603050405020304" pitchFamily="18" charset="0"/>
                        </a:rPr>
                        <a:t>. 2023</a:t>
                      </a:r>
                    </a:p>
                  </a:txBody>
                  <a:tcPr anchor="ctr"/>
                </a:tc>
                <a:extLst>
                  <a:ext uri="{0D108BD9-81ED-4DB2-BD59-A6C34878D82A}">
                    <a16:rowId xmlns:a16="http://schemas.microsoft.com/office/drawing/2014/main" val="1208581151"/>
                  </a:ext>
                </a:extLst>
              </a:tr>
            </a:tbl>
          </a:graphicData>
        </a:graphic>
      </p:graphicFrame>
    </p:spTree>
    <p:extLst>
      <p:ext uri="{BB962C8B-B14F-4D97-AF65-F5344CB8AC3E}">
        <p14:creationId xmlns:p14="http://schemas.microsoft.com/office/powerpoint/2010/main" val="4049645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A757B-F99C-9670-155A-323AC1275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356D4-0510-32D0-1F9D-E73930BC718B}"/>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2026C4F-63D8-CD81-0386-DADA728C8668}"/>
              </a:ext>
            </a:extLst>
          </p:cNvPr>
          <p:cNvSpPr txBox="1"/>
          <p:nvPr/>
        </p:nvSpPr>
        <p:spPr>
          <a:xfrm>
            <a:off x="628650" y="929579"/>
            <a:ext cx="7759570" cy="5224315"/>
          </a:xfrm>
          <a:prstGeom prst="rect">
            <a:avLst/>
          </a:prstGeom>
          <a:noFill/>
        </p:spPr>
        <p:txBody>
          <a:bodyPr wrap="square">
            <a:spAutoFit/>
          </a:bodyPr>
          <a:lstStyle/>
          <a:p>
            <a:pPr marL="342900" indent="-342900" algn="just">
              <a:lnSpc>
                <a:spcPct val="150000"/>
              </a:lnSpc>
              <a:buFont typeface="+mj-lt"/>
              <a:buAutoNum type="arabicPeriod"/>
            </a:pPr>
            <a:endParaRPr lang="en-US" sz="1400"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endParaRPr lang="en-US" sz="1400"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Cyberbullying is a major issue on social media, affecting many users, especially teenagers.</a:t>
            </a:r>
          </a:p>
          <a:p>
            <a:pPr marL="34290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Harmful messages spread quickly, causing emotional distress and mental health issues.</a:t>
            </a:r>
          </a:p>
          <a:p>
            <a:pPr marL="34290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Traditional detection methods are not effective due to the informal, ambiguous, and context-dependent nature of online language.</a:t>
            </a:r>
          </a:p>
          <a:p>
            <a:pPr marL="34290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Existing models fail to identify slang, sarcasm, and hidden abusive content, leading to inaccurate results.</a:t>
            </a:r>
          </a:p>
          <a:p>
            <a:pPr marL="342900" indent="-342900"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This project introduces an Enhanced Cyberbullying Detection System using </a:t>
            </a:r>
            <a:r>
              <a:rPr lang="en-IN" sz="1400" dirty="0" err="1">
                <a:latin typeface="Times New Roman" panose="02020603050405020304" pitchFamily="18" charset="0"/>
                <a:cs typeface="Times New Roman" panose="02020603050405020304" pitchFamily="18" charset="0"/>
              </a:rPr>
              <a:t>DistilBERT</a:t>
            </a:r>
            <a:r>
              <a:rPr lang="en-IN" sz="1400" dirty="0">
                <a:latin typeface="Times New Roman" panose="02020603050405020304" pitchFamily="18" charset="0"/>
                <a:cs typeface="Times New Roman" panose="02020603050405020304" pitchFamily="18" charset="0"/>
              </a:rPr>
              <a:t> to improve accuracy and efficiency.</a:t>
            </a:r>
          </a:p>
          <a:p>
            <a:pPr marL="342900" indent="-342900"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The system </a:t>
            </a:r>
            <a:r>
              <a:rPr lang="en-IN" sz="1400" dirty="0" err="1">
                <a:latin typeface="Times New Roman" panose="02020603050405020304" pitchFamily="18" charset="0"/>
                <a:cs typeface="Times New Roman" panose="02020603050405020304" pitchFamily="18" charset="0"/>
              </a:rPr>
              <a:t>analyzes</a:t>
            </a:r>
            <a:r>
              <a:rPr lang="en-IN" sz="1400" dirty="0">
                <a:latin typeface="Times New Roman" panose="02020603050405020304" pitchFamily="18" charset="0"/>
                <a:cs typeface="Times New Roman" panose="02020603050405020304" pitchFamily="18" charset="0"/>
              </a:rPr>
              <a:t> large datasets from Twitter, Instagram, and Facebook for better cyberbullying detection.</a:t>
            </a:r>
          </a:p>
          <a:p>
            <a:pPr marL="342900" indent="-342900"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It provides real-time monitoring to help create a safer online environment and prevent harmful content from spreading. </a:t>
            </a:r>
          </a:p>
          <a:p>
            <a:pPr algn="just">
              <a:lnSpc>
                <a:spcPct val="150000"/>
              </a:lnSpc>
            </a:pPr>
            <a:endParaRPr lang="en-IN" sz="1400" dirty="0">
              <a:latin typeface="Times New Roman" panose="02020603050405020304" pitchFamily="18" charset="0"/>
              <a:cs typeface="Times New Roman" panose="02020603050405020304" pitchFamily="18" charset="0"/>
            </a:endParaRP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
        <p:nvSpPr>
          <p:cNvPr id="12" name="Rectangle 6">
            <a:extLst>
              <a:ext uri="{FF2B5EF4-FFF2-40B4-BE49-F238E27FC236}">
                <a16:creationId xmlns:a16="http://schemas.microsoft.com/office/drawing/2014/main" id="{0AA82B80-C2DB-239A-8C9C-34C55D8D503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improve cyberbullying detection on social media using </a:t>
            </a:r>
            <a:r>
              <a:rPr kumimoji="0" lang="en-US" altLang="en-US" sz="1800" b="1" i="0" u="none" strike="noStrike" cap="none" normalizeH="0" baseline="0">
                <a:ln>
                  <a:noFill/>
                </a:ln>
                <a:solidFill>
                  <a:schemeClr val="tx1"/>
                </a:solidFill>
                <a:effectLst/>
                <a:latin typeface="Arial" panose="020B0604020202020204" pitchFamily="34" charset="0"/>
              </a:rPr>
              <a:t>DistilBERT</a:t>
            </a:r>
            <a:r>
              <a:rPr kumimoji="0" lang="en-US" altLang="en-US" sz="1800" b="0" i="0" u="none" strike="noStrike" cap="none" normalizeH="0" baseline="0">
                <a:ln>
                  <a:noFill/>
                </a:ln>
                <a:solidFill>
                  <a:schemeClr val="tx1"/>
                </a:solidFill>
                <a:effectLst/>
                <a:latin typeface="Arial" panose="020B0604020202020204" pitchFamily="34" charset="0"/>
              </a:rPr>
              <a:t> for better accuracy and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5286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Proposed System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26861A5-AEAA-79E8-62E5-69B012331285}"/>
              </a:ext>
            </a:extLst>
          </p:cNvPr>
          <p:cNvSpPr txBox="1"/>
          <p:nvPr/>
        </p:nvSpPr>
        <p:spPr>
          <a:xfrm>
            <a:off x="793102" y="914142"/>
            <a:ext cx="7722248" cy="4901150"/>
          </a:xfrm>
          <a:prstGeom prst="rect">
            <a:avLst/>
          </a:prstGeom>
          <a:noFill/>
        </p:spPr>
        <p:txBody>
          <a:bodyPr wrap="square">
            <a:spAutoFit/>
          </a:bodyPr>
          <a:lstStyle/>
          <a:p>
            <a:pPr>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buNone/>
            </a:pPr>
            <a:r>
              <a:rPr lang="en-US" sz="1400" dirty="0">
                <a:latin typeface="Times New Roman" panose="02020603050405020304" pitchFamily="18" charset="0"/>
                <a:cs typeface="Times New Roman" panose="02020603050405020304" pitchFamily="18" charset="0"/>
              </a:rPr>
              <a:t>The proposed system aims to improve the accuracy and efficiency of cyberbullying detection on social media by utilizing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a lightweight yet powerful deep learning model. Unlike traditional machine learning approaches, which struggle with sarcasm, slang, and evolving abusive language,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enhances text understanding by capturing contextual meaning more effectively. This system will analyze large-scale social media datasets, such as those from Twitter, Instagram, and Facebook, to detect harmful content in real-time and classify it with high accuracy.</a:t>
            </a:r>
          </a:p>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By integrating natural language processing (NLP) techniques, this model can adapt to the dynamic nature of online conversations and minimize false positives and negatives. The system's real-time monitoring and classification capabilities will help in preventing cyberbullying incidents before they escalate. Ultimately, this project aims to create a safer and more inclusive online environment by efficiently detecting and mitigating cyberbullying across various platforms.</a:t>
            </a:r>
          </a:p>
          <a:p>
            <a:pPr algn="just">
              <a:lnSpc>
                <a:spcPct val="150000"/>
              </a:lnSpc>
              <a:spcAft>
                <a:spcPts val="800"/>
              </a:spcAft>
            </a:pP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330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Software / Hardware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2AF431B-5FA7-9639-C907-902DC67508E3}"/>
              </a:ext>
            </a:extLst>
          </p:cNvPr>
          <p:cNvSpPr txBox="1"/>
          <p:nvPr/>
        </p:nvSpPr>
        <p:spPr>
          <a:xfrm>
            <a:off x="874438" y="988779"/>
            <a:ext cx="7218395" cy="3962880"/>
          </a:xfrm>
          <a:prstGeom prst="rect">
            <a:avLst/>
          </a:prstGeom>
          <a:noFill/>
        </p:spPr>
        <p:txBody>
          <a:bodyPr wrap="square" rtlCol="0">
            <a:spAutoFit/>
          </a:bodyPr>
          <a:lstStyle/>
          <a:p>
            <a:pPr>
              <a:lnSpc>
                <a:spcPct val="150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SzPts val="1000"/>
              <a:buFont typeface="Symbol" panose="05050102010706020507" pitchFamily="18" charset="2"/>
              <a:buChar char=""/>
              <a:tabLst>
                <a:tab pos="457200" algn="l"/>
              </a:tabLst>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SzPts val="1000"/>
              <a:buFont typeface="+mj-lt"/>
              <a:buAutoNum type="arabicPeriod"/>
              <a:tabLst>
                <a:tab pos="457200" algn="l"/>
              </a:tabLst>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Processor – Intel i5 or higher / AMD </a:t>
            </a:r>
            <a:r>
              <a:rPr lang="en-IN" sz="1400" dirty="0" err="1">
                <a:latin typeface="Times New Roman" panose="02020603050405020304" pitchFamily="18" charset="0"/>
                <a:ea typeface="Times New Roman" panose="02020603050405020304" pitchFamily="18" charset="0"/>
                <a:cs typeface="Times New Roman" panose="02020603050405020304" pitchFamily="18" charset="0"/>
              </a:rPr>
              <a:t>Ryzen</a:t>
            </a:r>
            <a:r>
              <a:rPr lang="en-IN" sz="1400" dirty="0">
                <a:latin typeface="Times New Roman" panose="02020603050405020304" pitchFamily="18" charset="0"/>
                <a:ea typeface="Times New Roman" panose="02020603050405020304" pitchFamily="18" charset="0"/>
                <a:cs typeface="Times New Roman" panose="02020603050405020304" pitchFamily="18" charset="0"/>
              </a:rPr>
              <a:t> 5 or higher</a:t>
            </a:r>
          </a:p>
          <a:p>
            <a:pPr marL="342900" lvl="0" indent="-342900" algn="just">
              <a:lnSpc>
                <a:spcPct val="150000"/>
              </a:lnSpc>
              <a:spcAft>
                <a:spcPts val="1000"/>
              </a:spcAft>
              <a:buSzPts val="1000"/>
              <a:buFont typeface="+mj-lt"/>
              <a:buAutoNum type="arabicPeriod"/>
              <a:tabLst>
                <a:tab pos="457200" algn="l"/>
              </a:tabLst>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RAM – Minimum 8GB (16GB recommended for deep learning tasks)</a:t>
            </a:r>
          </a:p>
          <a:p>
            <a:pPr marL="342900" lvl="0" indent="-342900" algn="just">
              <a:lnSpc>
                <a:spcPct val="150000"/>
              </a:lnSpc>
              <a:spcAft>
                <a:spcPts val="1000"/>
              </a:spcAft>
              <a:buSzPts val="1000"/>
              <a:buFont typeface="+mj-lt"/>
              <a:buAutoNum type="arabicPeriod"/>
              <a:tabLst>
                <a:tab pos="457200" algn="l"/>
              </a:tabLst>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GPU (Optional, for faster training) – NVIDIA GTX 1650 or higher</a:t>
            </a:r>
          </a:p>
          <a:p>
            <a:pPr marL="342900" lvl="0" indent="-342900" algn="just">
              <a:lnSpc>
                <a:spcPct val="150000"/>
              </a:lnSpc>
              <a:spcAft>
                <a:spcPts val="1000"/>
              </a:spcAft>
              <a:buSzPts val="1000"/>
              <a:buFont typeface="+mj-lt"/>
              <a:buAutoNum type="arabicPeriod"/>
              <a:tabLst>
                <a:tab pos="457200" algn="l"/>
              </a:tabLst>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Storage – Minimum 100GB (for datasets and model training)</a:t>
            </a:r>
          </a:p>
          <a:p>
            <a:pPr marL="342900" lvl="0" indent="-342900" algn="just">
              <a:lnSpc>
                <a:spcPct val="150000"/>
              </a:lnSpc>
              <a:spcAft>
                <a:spcPts val="1000"/>
              </a:spcAft>
              <a:buSzPts val="1000"/>
              <a:buFont typeface="+mj-lt"/>
              <a:buAutoNum type="arabicPeriod"/>
              <a:tabLst>
                <a:tab pos="457200" algn="l"/>
              </a:tabLst>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Internet Connection – Required for dataset collection and cloud processing</a:t>
            </a:r>
          </a:p>
          <a:p>
            <a:pPr marL="342900" lvl="0" indent="-342900" algn="just">
              <a:lnSpc>
                <a:spcPct val="150000"/>
              </a:lnSpc>
              <a:spcAft>
                <a:spcPts val="1000"/>
              </a:spcAft>
              <a:buSzPts val="1000"/>
              <a:buFont typeface="Symbol" panose="05050102010706020507" pitchFamily="18" charset="2"/>
              <a:buChar char=""/>
              <a:tabLst>
                <a:tab pos="457200" algn="l"/>
              </a:tabLst>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spcAft>
                <a:spcPts val="800"/>
              </a:spcAft>
              <a:buNone/>
            </a:pPr>
            <a:endParaRPr lang="en-IN" sz="16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070265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F7C7-6D73-4F96-3ACD-6FB1364F6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D9124-85FA-3033-00A3-165668F67EF2}"/>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Software / Hardware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EAD3886-1371-5C9B-84B9-D39CB8CD2169}"/>
              </a:ext>
            </a:extLst>
          </p:cNvPr>
          <p:cNvSpPr txBox="1"/>
          <p:nvPr/>
        </p:nvSpPr>
        <p:spPr>
          <a:xfrm>
            <a:off x="1057857" y="696249"/>
            <a:ext cx="7619611" cy="6481518"/>
          </a:xfrm>
          <a:prstGeom prst="rect">
            <a:avLst/>
          </a:prstGeom>
          <a:noFill/>
        </p:spPr>
        <p:txBody>
          <a:bodyPr wrap="square" rtlCol="0">
            <a:spAutoFit/>
          </a:bodyPr>
          <a:lstStyle/>
          <a:p>
            <a:pPr algn="just">
              <a:lnSpc>
                <a:spcPct val="150000"/>
              </a:lnSpc>
              <a:buNone/>
            </a:pPr>
            <a:endParaRPr lang="en-IN" sz="1600" b="1" dirty="0">
              <a:latin typeface="Times New Roman" panose="02020603050405020304" pitchFamily="18" charset="0"/>
              <a:cs typeface="Times New Roman" panose="02020603050405020304" pitchFamily="18" charset="0"/>
            </a:endParaRPr>
          </a:p>
          <a:p>
            <a:pPr algn="just">
              <a:lnSpc>
                <a:spcPct val="150000"/>
              </a:lnSpc>
              <a:buNone/>
            </a:pPr>
            <a:r>
              <a:rPr lang="en-IN" sz="1600" b="1" dirty="0">
                <a:latin typeface="Times New Roman" panose="02020603050405020304" pitchFamily="18" charset="0"/>
                <a:cs typeface="Times New Roman" panose="02020603050405020304" pitchFamily="18" charset="0"/>
              </a:rPr>
              <a:t>Software Requirements</a:t>
            </a:r>
          </a:p>
          <a:p>
            <a:pPr algn="just">
              <a:lnSpc>
                <a:spcPct val="150000"/>
              </a:lnSpc>
              <a:buNone/>
            </a:pPr>
            <a:endParaRPr lang="en-IN" sz="1600" b="1"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Programming Language – Python</a:t>
            </a:r>
          </a:p>
          <a:p>
            <a:pPr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Deep Learning Framework – TensorFlow / </a:t>
            </a:r>
            <a:r>
              <a:rPr lang="en-IN" sz="1400" dirty="0" err="1">
                <a:latin typeface="Times New Roman" panose="02020603050405020304" pitchFamily="18" charset="0"/>
                <a:cs typeface="Times New Roman" panose="02020603050405020304" pitchFamily="18" charset="0"/>
              </a:rPr>
              <a:t>PyTorch</a:t>
            </a:r>
            <a:endParaRPr lang="en-IN" sz="14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NLP Model – </a:t>
            </a:r>
            <a:r>
              <a:rPr lang="en-IN" sz="1400" dirty="0" err="1">
                <a:latin typeface="Times New Roman" panose="02020603050405020304" pitchFamily="18" charset="0"/>
                <a:cs typeface="Times New Roman" panose="02020603050405020304" pitchFamily="18" charset="0"/>
              </a:rPr>
              <a:t>DistilBERT</a:t>
            </a:r>
            <a:endParaRPr lang="en-IN" sz="14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Dataset Handling – Pandas, NumPy</a:t>
            </a:r>
          </a:p>
          <a:p>
            <a:pPr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Text Preprocessing – NLTK, </a:t>
            </a:r>
            <a:r>
              <a:rPr lang="en-IN" sz="1400" dirty="0" err="1">
                <a:latin typeface="Times New Roman" panose="02020603050405020304" pitchFamily="18" charset="0"/>
                <a:cs typeface="Times New Roman" panose="02020603050405020304" pitchFamily="18" charset="0"/>
              </a:rPr>
              <a:t>SpaCy</a:t>
            </a:r>
            <a:endParaRPr lang="en-IN" sz="14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Development Environment – </a:t>
            </a:r>
            <a:r>
              <a:rPr lang="en-IN" sz="1400" dirty="0" err="1">
                <a:latin typeface="Times New Roman" panose="02020603050405020304" pitchFamily="18" charset="0"/>
                <a:cs typeface="Times New Roman" panose="02020603050405020304" pitchFamily="18" charset="0"/>
              </a:rPr>
              <a:t>Jupyter</a:t>
            </a:r>
            <a:r>
              <a:rPr lang="en-IN" sz="1400" dirty="0">
                <a:latin typeface="Times New Roman" panose="02020603050405020304" pitchFamily="18" charset="0"/>
                <a:cs typeface="Times New Roman" panose="02020603050405020304" pitchFamily="18" charset="0"/>
              </a:rPr>
              <a:t> Notebook / VS Code</a:t>
            </a:r>
          </a:p>
          <a:p>
            <a:pPr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Database – MySQL / Firebase (if storing data)</a:t>
            </a:r>
          </a:p>
          <a:p>
            <a:pPr algn="just">
              <a:lnSpc>
                <a:spcPct val="150000"/>
              </a:lnSpc>
              <a:buFont typeface="+mj-lt"/>
              <a:buAutoNum type="arabicPeriod"/>
            </a:pPr>
            <a:r>
              <a:rPr lang="en-IN" sz="1400" dirty="0">
                <a:latin typeface="Times New Roman" panose="02020603050405020304" pitchFamily="18" charset="0"/>
                <a:cs typeface="Times New Roman" panose="02020603050405020304" pitchFamily="18" charset="0"/>
              </a:rPr>
              <a:t>Cloud Platform (Optional) – Google </a:t>
            </a:r>
            <a:r>
              <a:rPr lang="en-IN" sz="1400" dirty="0" err="1">
                <a:latin typeface="Times New Roman" panose="02020603050405020304" pitchFamily="18" charset="0"/>
                <a:cs typeface="Times New Roman" panose="02020603050405020304" pitchFamily="18" charset="0"/>
              </a:rPr>
              <a:t>Colab</a:t>
            </a:r>
            <a:r>
              <a:rPr lang="en-IN" sz="1400" dirty="0">
                <a:latin typeface="Times New Roman" panose="02020603050405020304" pitchFamily="18" charset="0"/>
                <a:cs typeface="Times New Roman" panose="02020603050405020304" pitchFamily="18" charset="0"/>
              </a:rPr>
              <a:t> / AWS for training models</a:t>
            </a:r>
          </a:p>
          <a:p>
            <a:pPr algn="just">
              <a:lnSpc>
                <a:spcPct val="150000"/>
              </a:lnSpc>
              <a:buFont typeface="+mj-lt"/>
              <a:buAutoNum type="arabicPeriod"/>
            </a:pPr>
            <a:endParaRPr lang="en-IN" sz="1400" dirty="0">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TECHNOLOGIES USED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457200" lvl="0" indent="-342900">
              <a:lnSpc>
                <a:spcPct val="150000"/>
              </a:lnSpc>
              <a:spcAft>
                <a:spcPts val="600"/>
              </a:spcAft>
              <a:buFont typeface="+mj-lt"/>
              <a:buAutoNum type="arabicPeriod"/>
              <a:tabLst>
                <a:tab pos="800100" algn="l"/>
              </a:tabLst>
            </a:pPr>
            <a:r>
              <a:rPr lang="en-US" sz="1400" dirty="0">
                <a:latin typeface="Times New Roman" panose="02020603050405020304" pitchFamily="18" charset="0"/>
                <a:ea typeface="Times New Roman" panose="02020603050405020304" pitchFamily="18" charset="0"/>
              </a:rPr>
              <a:t>python</a:t>
            </a:r>
            <a:endParaRPr lang="en-IN" sz="1400" dirty="0">
              <a:effectLst/>
              <a:latin typeface="Calibri" panose="020F0502020204030204" pitchFamily="34" charset="0"/>
              <a:ea typeface="Times New Roman" panose="02020603050405020304" pitchFamily="18" charset="0"/>
            </a:endParaRPr>
          </a:p>
          <a:p>
            <a:pPr marL="342900" marR="457200" lvl="0" indent="-342900">
              <a:lnSpc>
                <a:spcPct val="150000"/>
              </a:lnSpc>
              <a:spcAft>
                <a:spcPts val="600"/>
              </a:spcAft>
              <a:buFont typeface="+mj-lt"/>
              <a:buAutoNum type="arabicPeriod"/>
              <a:tabLst>
                <a:tab pos="800100" algn="l"/>
              </a:tabLst>
            </a:pPr>
            <a:r>
              <a:rPr lang="en-US" sz="1400" dirty="0">
                <a:effectLst/>
                <a:latin typeface="Times New Roman" panose="02020603050405020304" pitchFamily="18" charset="0"/>
                <a:ea typeface="Times New Roman" panose="02020603050405020304" pitchFamily="18" charset="0"/>
              </a:rPr>
              <a:t>Machine Learning</a:t>
            </a:r>
            <a:endParaRPr lang="en-IN" sz="1400" dirty="0">
              <a:effectLst/>
              <a:latin typeface="Calibri" panose="020F0502020204030204" pitchFamily="34" charset="0"/>
              <a:ea typeface="Times New Roman" panose="02020603050405020304" pitchFamily="18" charset="0"/>
            </a:endParaRPr>
          </a:p>
          <a:p>
            <a:pPr marR="457200" lvl="0">
              <a:lnSpc>
                <a:spcPct val="150000"/>
              </a:lnSpc>
              <a:spcAft>
                <a:spcPts val="600"/>
              </a:spcAft>
              <a:tabLst>
                <a:tab pos="800100" algn="l"/>
              </a:tabLst>
            </a:pPr>
            <a:endParaRPr lang="en-IN" sz="1400" dirty="0">
              <a:effectLst/>
              <a:latin typeface="Calibri" panose="020F0502020204030204" pitchFamily="34" charset="0"/>
              <a:ea typeface="Times New Roman" panose="02020603050405020304" pitchFamily="18" charset="0"/>
            </a:endParaRPr>
          </a:p>
          <a:p>
            <a:pPr algn="just">
              <a:lnSpc>
                <a:spcPct val="150000"/>
              </a:lnSpc>
              <a:buFont typeface="+mj-lt"/>
              <a:buAutoNum type="arabicPeriod"/>
            </a:pPr>
            <a:endParaRPr lang="en-IN" sz="1400" dirty="0">
              <a:latin typeface="Times New Roman" panose="02020603050405020304" pitchFamily="18" charset="0"/>
              <a:cs typeface="Times New Roman" panose="02020603050405020304" pitchFamily="18" charset="0"/>
            </a:endParaRPr>
          </a:p>
          <a:p>
            <a:pPr algn="just">
              <a:lnSpc>
                <a:spcPct val="150000"/>
              </a:lnSpc>
              <a:spcAft>
                <a:spcPts val="800"/>
              </a:spcAft>
              <a:buNone/>
            </a:pPr>
            <a:endParaRPr lang="en-IN" sz="16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521529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Architecture / Methodology used</a:t>
            </a:r>
            <a:endParaRPr lang="en-IN" sz="3600" b="1" dirty="0">
              <a:solidFill>
                <a:srgbClr val="7030A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37EACD1-5350-EFCF-FA2C-C64D0C52A4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6245" y="1307835"/>
            <a:ext cx="5731510" cy="4298315"/>
          </a:xfrm>
          <a:prstGeom prst="rect">
            <a:avLst/>
          </a:prstGeom>
          <a:noFill/>
          <a:ln>
            <a:noFill/>
          </a:ln>
        </p:spPr>
      </p:pic>
    </p:spTree>
    <p:extLst>
      <p:ext uri="{BB962C8B-B14F-4D97-AF65-F5344CB8AC3E}">
        <p14:creationId xmlns:p14="http://schemas.microsoft.com/office/powerpoint/2010/main" val="326407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9A7BB-C527-0A35-23A5-463C2DAB8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F68D1-D934-7ECB-333C-ABA4266CBADB}"/>
              </a:ext>
            </a:extLst>
          </p:cNvPr>
          <p:cNvSpPr>
            <a:spLocks noGrp="1"/>
          </p:cNvSpPr>
          <p:nvPr>
            <p:ph type="title"/>
          </p:nvPr>
        </p:nvSpPr>
        <p:spPr>
          <a:xfrm>
            <a:off x="628650" y="-503852"/>
            <a:ext cx="7886700" cy="181013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DFD</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E8C2CD49-2D73-E953-D9C8-FEA900A6F35B}"/>
              </a:ext>
            </a:extLst>
          </p:cNvPr>
          <p:cNvSpPr>
            <a:spLocks noGrp="1"/>
          </p:cNvSpPr>
          <p:nvPr>
            <p:ph idx="1"/>
          </p:nvPr>
        </p:nvSpPr>
        <p:spPr>
          <a:xfrm>
            <a:off x="261258" y="942392"/>
            <a:ext cx="8164286" cy="793101"/>
          </a:xfrm>
        </p:spPr>
        <p:txBody>
          <a:bodyPr>
            <a:normAutofit/>
          </a:bodyPr>
          <a:lstStyle/>
          <a:p>
            <a:pPr marL="0" indent="0" algn="ctr">
              <a:buNone/>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DFD LEVEL -1 </a:t>
            </a:r>
          </a:p>
        </p:txBody>
      </p:sp>
      <p:pic>
        <p:nvPicPr>
          <p:cNvPr id="3" name="Picture 2">
            <a:extLst>
              <a:ext uri="{FF2B5EF4-FFF2-40B4-BE49-F238E27FC236}">
                <a16:creationId xmlns:a16="http://schemas.microsoft.com/office/drawing/2014/main" id="{A728A5DE-B144-0BEC-DC88-574F9965D905}"/>
              </a:ext>
            </a:extLst>
          </p:cNvPr>
          <p:cNvPicPr/>
          <p:nvPr/>
        </p:nvPicPr>
        <p:blipFill>
          <a:blip r:embed="rId2"/>
          <a:stretch>
            <a:fillRect/>
          </a:stretch>
        </p:blipFill>
        <p:spPr>
          <a:xfrm>
            <a:off x="1052610" y="1516224"/>
            <a:ext cx="6581582" cy="4795935"/>
          </a:xfrm>
          <a:prstGeom prst="rect">
            <a:avLst/>
          </a:prstGeom>
        </p:spPr>
      </p:pic>
    </p:spTree>
    <p:extLst>
      <p:ext uri="{BB962C8B-B14F-4D97-AF65-F5344CB8AC3E}">
        <p14:creationId xmlns:p14="http://schemas.microsoft.com/office/powerpoint/2010/main" val="2943361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BC72-9A22-9931-EEAD-EC51E592A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0E7BF-1283-B8A3-B028-3A0B59DEB263}"/>
              </a:ext>
            </a:extLst>
          </p:cNvPr>
          <p:cNvSpPr>
            <a:spLocks noGrp="1"/>
          </p:cNvSpPr>
          <p:nvPr>
            <p:ph type="title"/>
          </p:nvPr>
        </p:nvSpPr>
        <p:spPr>
          <a:xfrm>
            <a:off x="628650" y="-503852"/>
            <a:ext cx="7886700" cy="181013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DFD</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1C110028-C0EB-9874-D7BB-44238F2D1A54}"/>
              </a:ext>
            </a:extLst>
          </p:cNvPr>
          <p:cNvSpPr>
            <a:spLocks noGrp="1"/>
          </p:cNvSpPr>
          <p:nvPr>
            <p:ph idx="1"/>
          </p:nvPr>
        </p:nvSpPr>
        <p:spPr>
          <a:xfrm>
            <a:off x="261258" y="942392"/>
            <a:ext cx="8164286" cy="793101"/>
          </a:xfrm>
        </p:spPr>
        <p:txBody>
          <a:bodyPr>
            <a:normAutofit/>
          </a:bodyPr>
          <a:lstStyle/>
          <a:p>
            <a:pPr marL="0" indent="0" algn="ctr">
              <a:buNone/>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DFD LEVEL - 2</a:t>
            </a:r>
          </a:p>
        </p:txBody>
      </p:sp>
      <p:pic>
        <p:nvPicPr>
          <p:cNvPr id="10" name="Picture 9">
            <a:extLst>
              <a:ext uri="{FF2B5EF4-FFF2-40B4-BE49-F238E27FC236}">
                <a16:creationId xmlns:a16="http://schemas.microsoft.com/office/drawing/2014/main" id="{5BDE0B96-8B0D-D61E-B099-27B996F6C5B3}"/>
              </a:ext>
            </a:extLst>
          </p:cNvPr>
          <p:cNvPicPr/>
          <p:nvPr/>
        </p:nvPicPr>
        <p:blipFill>
          <a:blip r:embed="rId2"/>
          <a:stretch>
            <a:fillRect/>
          </a:stretch>
        </p:blipFill>
        <p:spPr>
          <a:xfrm>
            <a:off x="1250301" y="1926907"/>
            <a:ext cx="6932645" cy="3522171"/>
          </a:xfrm>
          <a:prstGeom prst="rect">
            <a:avLst/>
          </a:prstGeom>
        </p:spPr>
      </p:pic>
    </p:spTree>
    <p:extLst>
      <p:ext uri="{BB962C8B-B14F-4D97-AF65-F5344CB8AC3E}">
        <p14:creationId xmlns:p14="http://schemas.microsoft.com/office/powerpoint/2010/main" val="2966441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AD64-28C8-CDFB-C174-14D66525C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62608-BA28-E606-04EE-61C38D86F263}"/>
              </a:ext>
            </a:extLst>
          </p:cNvPr>
          <p:cNvSpPr>
            <a:spLocks noGrp="1"/>
          </p:cNvSpPr>
          <p:nvPr>
            <p:ph type="title"/>
          </p:nvPr>
        </p:nvSpPr>
        <p:spPr>
          <a:xfrm>
            <a:off x="628650" y="-503852"/>
            <a:ext cx="7886700" cy="181013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DFD</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C2B8945C-FEB9-5725-D5CE-FE50210E421D}"/>
              </a:ext>
            </a:extLst>
          </p:cNvPr>
          <p:cNvSpPr>
            <a:spLocks noGrp="1"/>
          </p:cNvSpPr>
          <p:nvPr>
            <p:ph idx="1"/>
          </p:nvPr>
        </p:nvSpPr>
        <p:spPr>
          <a:xfrm>
            <a:off x="261258" y="942392"/>
            <a:ext cx="8164286" cy="793101"/>
          </a:xfrm>
        </p:spPr>
        <p:txBody>
          <a:bodyPr>
            <a:normAutofit/>
          </a:bodyPr>
          <a:lstStyle/>
          <a:p>
            <a:pPr marL="0" indent="0" algn="ctr">
              <a:buNone/>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DFD LEVEL - 3</a:t>
            </a:r>
          </a:p>
        </p:txBody>
      </p:sp>
      <p:pic>
        <p:nvPicPr>
          <p:cNvPr id="3" name="Picture 2">
            <a:extLst>
              <a:ext uri="{FF2B5EF4-FFF2-40B4-BE49-F238E27FC236}">
                <a16:creationId xmlns:a16="http://schemas.microsoft.com/office/drawing/2014/main" id="{CA41B171-FD2B-02C1-2019-50C0B3DD87B9}"/>
              </a:ext>
            </a:extLst>
          </p:cNvPr>
          <p:cNvPicPr/>
          <p:nvPr/>
        </p:nvPicPr>
        <p:blipFill>
          <a:blip r:embed="rId2"/>
          <a:stretch>
            <a:fillRect/>
          </a:stretch>
        </p:blipFill>
        <p:spPr>
          <a:xfrm>
            <a:off x="830424" y="1629092"/>
            <a:ext cx="7520474" cy="4855684"/>
          </a:xfrm>
          <a:prstGeom prst="rect">
            <a:avLst/>
          </a:prstGeom>
        </p:spPr>
      </p:pic>
    </p:spTree>
    <p:extLst>
      <p:ext uri="{BB962C8B-B14F-4D97-AF65-F5344CB8AC3E}">
        <p14:creationId xmlns:p14="http://schemas.microsoft.com/office/powerpoint/2010/main" val="211909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5E3CB-82B9-AD87-6439-66C272D6A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03EAC-B0EF-376C-7FCF-9DDB4160CA19}"/>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a:t>
            </a:r>
            <a:r>
              <a:rPr lang="en-US" sz="36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use case diagram</a:t>
            </a:r>
            <a:endParaRPr lang="en-IN" sz="6000" b="1" dirty="0">
              <a:solidFill>
                <a:srgbClr val="7030A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BDD3078-3711-2464-F7F8-5097C0DC81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1723" y="619432"/>
            <a:ext cx="7436498" cy="6238568"/>
          </a:xfrm>
          <a:prstGeom prst="rect">
            <a:avLst/>
          </a:prstGeom>
          <a:noFill/>
          <a:ln>
            <a:noFill/>
          </a:ln>
        </p:spPr>
      </p:pic>
    </p:spTree>
    <p:extLst>
      <p:ext uri="{BB962C8B-B14F-4D97-AF65-F5344CB8AC3E}">
        <p14:creationId xmlns:p14="http://schemas.microsoft.com/office/powerpoint/2010/main" val="422417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6086D-2D26-6B62-68DE-5E4AA4573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6EE29-C536-8C4A-9E09-4DACD759A926}"/>
              </a:ext>
            </a:extLst>
          </p:cNvPr>
          <p:cNvSpPr>
            <a:spLocks noGrp="1"/>
          </p:cNvSpPr>
          <p:nvPr>
            <p:ph type="title"/>
          </p:nvPr>
        </p:nvSpPr>
        <p:spPr>
          <a:xfrm>
            <a:off x="-1" y="165991"/>
            <a:ext cx="9041363"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Collaboration Diagram</a:t>
            </a:r>
            <a:endParaRPr lang="en-IN" sz="6000" b="1" dirty="0">
              <a:solidFill>
                <a:srgbClr val="7030A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2855CD-1EFE-86A5-30AF-A93B4E86FD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03649" y="1240123"/>
            <a:ext cx="6932645" cy="4993574"/>
          </a:xfrm>
          <a:prstGeom prst="rect">
            <a:avLst/>
          </a:prstGeom>
          <a:noFill/>
          <a:ln>
            <a:noFill/>
          </a:ln>
        </p:spPr>
      </p:pic>
    </p:spTree>
    <p:extLst>
      <p:ext uri="{BB962C8B-B14F-4D97-AF65-F5344CB8AC3E}">
        <p14:creationId xmlns:p14="http://schemas.microsoft.com/office/powerpoint/2010/main" val="3412613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8C818-702D-DAA4-139E-7207F7793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C3FD7-682F-BD76-C52B-9935CC0A7592}"/>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Sequence</a:t>
            </a:r>
            <a:r>
              <a:rPr lang="pt-BR" sz="3600" dirty="0">
                <a:solidFill>
                  <a:srgbClr val="222222"/>
                </a:solidFill>
                <a:effectLst/>
                <a:latin typeface="Arial" panose="020B0604020202020204" pitchFamily="34" charset="0"/>
                <a:ea typeface="Calibri" panose="020F0502020204030204" pitchFamily="34" charset="0"/>
              </a:rPr>
              <a:t>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Diagram</a:t>
            </a:r>
            <a:endParaRPr lang="en-IN" sz="6000" b="1" dirty="0">
              <a:solidFill>
                <a:srgbClr val="7030A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2242593-65D2-8A7A-DB76-4625A22BC4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6955" y="1269803"/>
            <a:ext cx="6382139" cy="5422206"/>
          </a:xfrm>
          <a:prstGeom prst="rect">
            <a:avLst/>
          </a:prstGeom>
          <a:noFill/>
          <a:ln>
            <a:noFill/>
          </a:ln>
        </p:spPr>
      </p:pic>
    </p:spTree>
    <p:extLst>
      <p:ext uri="{BB962C8B-B14F-4D97-AF65-F5344CB8AC3E}">
        <p14:creationId xmlns:p14="http://schemas.microsoft.com/office/powerpoint/2010/main" val="874028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1D747E8-587B-6E5B-14A9-478AECDA7D86}"/>
              </a:ext>
            </a:extLst>
          </p:cNvPr>
          <p:cNvSpPr txBox="1"/>
          <p:nvPr/>
        </p:nvSpPr>
        <p:spPr>
          <a:xfrm>
            <a:off x="873760" y="1631616"/>
            <a:ext cx="7416800" cy="1740476"/>
          </a:xfrm>
          <a:prstGeom prst="rect">
            <a:avLst/>
          </a:prstGeom>
          <a:noFill/>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Modules:</a:t>
            </a:r>
            <a:endParaRPr lang="en-US" sz="1400" dirty="0">
              <a:latin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US" sz="1600" dirty="0">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Dataset Collection and Preprocessing</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Model Training</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Flask Web App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7520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7C0E9-8F27-43C7-56D5-AEDF09F40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B707D-7B1E-D524-EFD2-B8B6525327CF}"/>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5A4522F-AEAF-46AC-F2B6-5312A3DAB351}"/>
              </a:ext>
            </a:extLst>
          </p:cNvPr>
          <p:cNvSpPr txBox="1"/>
          <p:nvPr/>
        </p:nvSpPr>
        <p:spPr>
          <a:xfrm>
            <a:off x="697463" y="1317475"/>
            <a:ext cx="7625443" cy="2813399"/>
          </a:xfrm>
          <a:prstGeom prst="rect">
            <a:avLst/>
          </a:prstGeom>
          <a:noFill/>
        </p:spPr>
        <p:txBody>
          <a:bodyPr wrap="square">
            <a:spAutoFit/>
          </a:bodyPr>
          <a:lstStyle/>
          <a:p>
            <a:pPr lvl="0" algn="just">
              <a:lnSpc>
                <a:spcPct val="150000"/>
              </a:lnSpc>
              <a:spcAft>
                <a:spcPts val="1000"/>
              </a:spcAft>
              <a:tabLst>
                <a:tab pos="457200" algn="l"/>
              </a:tabLst>
            </a:pPr>
            <a:r>
              <a:rPr lang="en-US" sz="1600" dirty="0">
                <a:latin typeface="Times New Roman" panose="02020603050405020304" pitchFamily="18" charset="0"/>
                <a:cs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Dataset Collection</a:t>
            </a:r>
            <a:endParaRPr lang="en-US" sz="1600" b="1"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To build an effective cyberbullying detection system, a large and diverse dataset is essential. This project gathers data from popular social media platforms like Twitter, Instagram, and Facebook, where incidents of cyberbullying are common. The dataset contains various types of text, including bullying-related comments, offensive language, and neutral conversations. To ensure the quality of the data, a series of preprocessing steps are applied, such as removing irrelevant content, duplicates, and unnecessary noise. Furthermore, advanced Natural Language Processing (NLP) techniques are used to organize and refine the data, making it more structured and relevant for training the detection model.</a:t>
            </a:r>
          </a:p>
        </p:txBody>
      </p:sp>
    </p:spTree>
    <p:extLst>
      <p:ext uri="{BB962C8B-B14F-4D97-AF65-F5344CB8AC3E}">
        <p14:creationId xmlns:p14="http://schemas.microsoft.com/office/powerpoint/2010/main" val="383422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B982C-7C95-5360-FB07-9223CB081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A1612-CF12-C5DA-2CB9-952A6C4B4EE8}"/>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429D024-0050-A643-FEB8-0C949324B694}"/>
              </a:ext>
            </a:extLst>
          </p:cNvPr>
          <p:cNvSpPr txBox="1"/>
          <p:nvPr/>
        </p:nvSpPr>
        <p:spPr>
          <a:xfrm>
            <a:off x="697463" y="1317475"/>
            <a:ext cx="7625443" cy="3649525"/>
          </a:xfrm>
          <a:prstGeom prst="rect">
            <a:avLst/>
          </a:prstGeom>
          <a:noFill/>
        </p:spPr>
        <p:txBody>
          <a:bodyPr wrap="square">
            <a:spAutoFit/>
          </a:bodyPr>
          <a:lstStyle/>
          <a:p>
            <a:pPr lvl="0" algn="just">
              <a:lnSpc>
                <a:spcPct val="150000"/>
              </a:lnSpc>
              <a:spcAft>
                <a:spcPts val="1000"/>
              </a:spcAft>
              <a:tabLst>
                <a:tab pos="457200" algn="l"/>
              </a:tabLst>
            </a:pPr>
            <a:r>
              <a:rPr lang="en-US"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Preprocessing</a:t>
            </a:r>
          </a:p>
          <a:p>
            <a:pPr marL="342900" lvl="0" indent="-342900" algn="just">
              <a:lnSpc>
                <a:spcPct val="150000"/>
              </a:lnSpc>
              <a:spcAft>
                <a:spcPts val="1000"/>
              </a:spcAft>
              <a:buFont typeface="+mj-lt"/>
              <a:buAutoNum type="arabicPeriod"/>
              <a:tabLst>
                <a:tab pos="457200" algn="l"/>
              </a:tabLst>
            </a:pPr>
            <a:r>
              <a:rPr lang="en-US" sz="1400" b="1" dirty="0">
                <a:latin typeface="Times New Roman" panose="02020603050405020304" pitchFamily="18" charset="0"/>
                <a:cs typeface="Times New Roman" panose="02020603050405020304" pitchFamily="18" charset="0"/>
              </a:rPr>
              <a:t>Text Cleaning: </a:t>
            </a:r>
            <a:r>
              <a:rPr lang="en-US" sz="1400" dirty="0">
                <a:latin typeface="Times New Roman" panose="02020603050405020304" pitchFamily="18" charset="0"/>
                <a:cs typeface="Times New Roman" panose="02020603050405020304" pitchFamily="18" charset="0"/>
              </a:rPr>
              <a:t>Removes special characters, URLs, hashtags, numbers, and emojis to keep only meaningful words.</a:t>
            </a:r>
          </a:p>
          <a:p>
            <a:pPr marL="342900" lvl="0" indent="-342900" algn="just">
              <a:lnSpc>
                <a:spcPct val="150000"/>
              </a:lnSpc>
              <a:spcAft>
                <a:spcPts val="1000"/>
              </a:spcAft>
              <a:buFont typeface="+mj-lt"/>
              <a:buAutoNum type="arabicPeriod"/>
              <a:tabLst>
                <a:tab pos="457200" algn="l"/>
              </a:tabLst>
            </a:pPr>
            <a:r>
              <a:rPr lang="en-US" sz="1400" b="1" dirty="0">
                <a:latin typeface="Times New Roman" panose="02020603050405020304" pitchFamily="18" charset="0"/>
                <a:cs typeface="Times New Roman" panose="02020603050405020304" pitchFamily="18" charset="0"/>
              </a:rPr>
              <a:t>Tokenization: </a:t>
            </a:r>
            <a:r>
              <a:rPr lang="en-US" sz="1400" dirty="0">
                <a:latin typeface="Times New Roman" panose="02020603050405020304" pitchFamily="18" charset="0"/>
                <a:cs typeface="Times New Roman" panose="02020603050405020304" pitchFamily="18" charset="0"/>
              </a:rPr>
              <a:t>Splits the text into individual words or phrases for better analysis.</a:t>
            </a:r>
          </a:p>
          <a:p>
            <a:pPr marL="342900" lvl="0" indent="-342900" algn="just">
              <a:lnSpc>
                <a:spcPct val="150000"/>
              </a:lnSpc>
              <a:spcAft>
                <a:spcPts val="1000"/>
              </a:spcAft>
              <a:buFont typeface="+mj-lt"/>
              <a:buAutoNum type="arabicPeriod"/>
              <a:tabLst>
                <a:tab pos="457200" algn="l"/>
              </a:tabLst>
            </a:pPr>
            <a:r>
              <a:rPr lang="en-US" sz="1400" b="1" dirty="0" err="1">
                <a:latin typeface="Times New Roman" panose="02020603050405020304" pitchFamily="18" charset="0"/>
                <a:cs typeface="Times New Roman" panose="02020603050405020304" pitchFamily="18" charset="0"/>
              </a:rPr>
              <a:t>Stopword</a:t>
            </a:r>
            <a:r>
              <a:rPr lang="en-US" sz="1400" b="1" dirty="0">
                <a:latin typeface="Times New Roman" panose="02020603050405020304" pitchFamily="18" charset="0"/>
                <a:cs typeface="Times New Roman" panose="02020603050405020304" pitchFamily="18" charset="0"/>
              </a:rPr>
              <a:t> Removal: </a:t>
            </a:r>
            <a:r>
              <a:rPr lang="en-US" sz="1400" dirty="0">
                <a:latin typeface="Times New Roman" panose="02020603050405020304" pitchFamily="18" charset="0"/>
                <a:cs typeface="Times New Roman" panose="02020603050405020304" pitchFamily="18" charset="0"/>
              </a:rPr>
              <a:t>Removes common words like "the," "is," "and," which do not add value to classification.</a:t>
            </a:r>
          </a:p>
          <a:p>
            <a:pPr marL="342900" lvl="0" indent="-342900" algn="just">
              <a:lnSpc>
                <a:spcPct val="150000"/>
              </a:lnSpc>
              <a:spcAft>
                <a:spcPts val="1000"/>
              </a:spcAft>
              <a:buFont typeface="+mj-lt"/>
              <a:buAutoNum type="arabicPeriod"/>
              <a:tabLst>
                <a:tab pos="457200" algn="l"/>
              </a:tabLst>
            </a:pPr>
            <a:r>
              <a:rPr lang="en-US" sz="1400" b="1" dirty="0">
                <a:latin typeface="Times New Roman" panose="02020603050405020304" pitchFamily="18" charset="0"/>
                <a:cs typeface="Times New Roman" panose="02020603050405020304" pitchFamily="18" charset="0"/>
              </a:rPr>
              <a:t>Lemmatization: </a:t>
            </a:r>
            <a:r>
              <a:rPr lang="en-US" sz="1400" dirty="0">
                <a:latin typeface="Times New Roman" panose="02020603050405020304" pitchFamily="18" charset="0"/>
                <a:cs typeface="Times New Roman" panose="02020603050405020304" pitchFamily="18" charset="0"/>
              </a:rPr>
              <a:t>Converts words into their base form (e.g., "running" → "run").</a:t>
            </a:r>
          </a:p>
          <a:p>
            <a:pPr marL="342900" lvl="0" indent="-342900" algn="just">
              <a:lnSpc>
                <a:spcPct val="150000"/>
              </a:lnSpc>
              <a:spcAft>
                <a:spcPts val="1000"/>
              </a:spcAft>
              <a:buFont typeface="+mj-lt"/>
              <a:buAutoNum type="arabicPeriod"/>
              <a:tabLst>
                <a:tab pos="457200" algn="l"/>
              </a:tabLst>
            </a:pPr>
            <a:r>
              <a:rPr lang="en-US" sz="1400" b="1" dirty="0">
                <a:latin typeface="Times New Roman" panose="02020603050405020304" pitchFamily="18" charset="0"/>
                <a:cs typeface="Times New Roman" panose="02020603050405020304" pitchFamily="18" charset="0"/>
              </a:rPr>
              <a:t>Vectorization: </a:t>
            </a:r>
            <a:r>
              <a:rPr lang="en-US" sz="1400" dirty="0">
                <a:latin typeface="Times New Roman" panose="02020603050405020304" pitchFamily="18" charset="0"/>
                <a:cs typeface="Times New Roman" panose="02020603050405020304" pitchFamily="18" charset="0"/>
              </a:rPr>
              <a:t>Converts text into numerical data using TF-IDF (for SVM) or Word Embeddings (for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0685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D906-AB7D-B467-158F-0AFDF6881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3181A-9B34-9F9B-46CF-B06B3A325964}"/>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0E67D59-BAEA-5C96-7363-5F9B4B09FE99}"/>
              </a:ext>
            </a:extLst>
          </p:cNvPr>
          <p:cNvSpPr txBox="1"/>
          <p:nvPr/>
        </p:nvSpPr>
        <p:spPr>
          <a:xfrm>
            <a:off x="373224" y="802434"/>
            <a:ext cx="7987005" cy="5870646"/>
          </a:xfrm>
          <a:prstGeom prst="rect">
            <a:avLst/>
          </a:prstGeom>
          <a:noFill/>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Model Explanation</a:t>
            </a:r>
          </a:p>
          <a:p>
            <a:pPr algn="just">
              <a:lnSpc>
                <a:spcPct val="150000"/>
              </a:lnSpc>
              <a:buNone/>
            </a:pPr>
            <a:r>
              <a:rPr lang="en-US" sz="1400" dirty="0">
                <a:latin typeface="Times New Roman" panose="02020603050405020304" pitchFamily="18" charset="0"/>
                <a:cs typeface="Times New Roman" panose="02020603050405020304" pitchFamily="18" charset="0"/>
              </a:rPr>
              <a:t>The Enhanced Cyberbullying Detection System is built using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a transformer-based model that efficiently analyzes and classifies text with high accuracy and low computational cost. Unlike traditional models such as LSTM and </a:t>
            </a:r>
            <a:r>
              <a:rPr lang="en-US" sz="1400" dirty="0" err="1">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which struggle with long-range dependencies and contextual understanding,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excels at capturing the semantic and syntactic meaning of words in a sentence. The model is fine-tuned using a large dataset of social media comments, enabling it to distinguish between cyberbullying, hate speech, and non-offensive conversations.</a:t>
            </a:r>
          </a:p>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system follows a pipeline approach: First, raw text data is collected and pre-processed using Natural Language Processing (NLP) techniques like tokenization, stemming, stop-word removal, and lemmatization. </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processed text is then converted into numerical representations using word embeddings, which are fed into the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model for classification. The model outputs a probability score indicating whether the text contains cyberbullying content. The final step includes post-processing techniques, such as threshold-based classification and confidence filtering, to refine predictions. This ensures high detection accuracy, minimal false positives, and real-time processing capabilities, making it an effective solution for moderating online interactions.</a:t>
            </a:r>
          </a:p>
          <a:p>
            <a:pPr>
              <a:lnSpc>
                <a:spcPct val="150000"/>
              </a:lnSpc>
            </a:pP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858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325D4-B378-9B10-96C3-EE994AA80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55DB9-6059-1B92-52B7-C028CC245902}"/>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27C3A23-A333-9B9A-E891-6F033A8DCEE3}"/>
              </a:ext>
            </a:extLst>
          </p:cNvPr>
          <p:cNvSpPr txBox="1"/>
          <p:nvPr/>
        </p:nvSpPr>
        <p:spPr>
          <a:xfrm>
            <a:off x="628650" y="1128370"/>
            <a:ext cx="7886700" cy="402398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Prediction System:</a:t>
            </a:r>
          </a:p>
          <a:p>
            <a:pPr>
              <a:lnSpc>
                <a:spcPct val="150000"/>
              </a:lnSpc>
            </a:pPr>
            <a:endParaRPr lang="en-US" sz="14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1400" b="1" dirty="0">
                <a:latin typeface="Times New Roman" panose="02020603050405020304" pitchFamily="18" charset="0"/>
                <a:cs typeface="Times New Roman" panose="02020603050405020304" pitchFamily="18" charset="0"/>
              </a:rPr>
              <a:t>Input:  </a:t>
            </a:r>
            <a:r>
              <a:rPr lang="en-US" sz="1400" dirty="0">
                <a:latin typeface="Times New Roman" panose="02020603050405020304" pitchFamily="18" charset="0"/>
                <a:cs typeface="Times New Roman" panose="02020603050405020304" pitchFamily="18" charset="0"/>
              </a:rPr>
              <a:t>The system takes a new social media comment as input.</a:t>
            </a:r>
          </a:p>
          <a:p>
            <a:pPr marL="342900" indent="-342900" algn="just">
              <a:lnSpc>
                <a:spcPct val="150000"/>
              </a:lnSpc>
              <a:buFont typeface="+mj-lt"/>
              <a:buAutoNum type="arabicPeriod"/>
            </a:pPr>
            <a:r>
              <a:rPr lang="en-US" sz="1400" b="1" dirty="0">
                <a:latin typeface="Times New Roman" panose="02020603050405020304" pitchFamily="18" charset="0"/>
                <a:cs typeface="Times New Roman" panose="02020603050405020304" pitchFamily="18" charset="0"/>
              </a:rPr>
              <a:t>Text Processing: </a:t>
            </a:r>
            <a:r>
              <a:rPr lang="en-US" sz="1400" dirty="0">
                <a:latin typeface="Times New Roman" panose="02020603050405020304" pitchFamily="18" charset="0"/>
                <a:cs typeface="Times New Roman" panose="02020603050405020304" pitchFamily="18" charset="0"/>
              </a:rPr>
              <a:t>The comment is processed using Natural Language Processing (NLP) techniques, such as tokenization.</a:t>
            </a:r>
          </a:p>
          <a:p>
            <a:pPr marL="342900" indent="-342900" algn="just">
              <a:lnSpc>
                <a:spcPct val="150000"/>
              </a:lnSpc>
              <a:buFont typeface="+mj-lt"/>
              <a:buAutoNum type="arabicPeriod"/>
            </a:pPr>
            <a:r>
              <a:rPr lang="en-US" sz="1400" b="1" dirty="0">
                <a:latin typeface="Times New Roman" panose="02020603050405020304" pitchFamily="18" charset="0"/>
                <a:cs typeface="Times New Roman" panose="02020603050405020304" pitchFamily="18" charset="0"/>
              </a:rPr>
              <a:t>Model Prediction: </a:t>
            </a:r>
            <a:r>
              <a:rPr lang="en-US" sz="1400" dirty="0">
                <a:latin typeface="Times New Roman" panose="02020603050405020304" pitchFamily="18" charset="0"/>
                <a:cs typeface="Times New Roman" panose="02020603050405020304" pitchFamily="18" charset="0"/>
              </a:rPr>
              <a:t>The processed text is passed through the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model, which understands the context and meaning of the words.</a:t>
            </a:r>
          </a:p>
          <a:p>
            <a:pPr marL="342900" indent="-342900" algn="just">
              <a:lnSpc>
                <a:spcPct val="150000"/>
              </a:lnSpc>
              <a:buFont typeface="+mj-lt"/>
              <a:buAutoNum type="arabicPeriod"/>
            </a:pPr>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The model classifies the comment as either cyberbullying or non-bullying based on patterns learned during training.</a:t>
            </a:r>
          </a:p>
          <a:p>
            <a:pPr marL="342900" indent="-342900" algn="just">
              <a:lnSpc>
                <a:spcPct val="150000"/>
              </a:lnSpc>
              <a:buFont typeface="+mj-lt"/>
              <a:buAutoNum type="arabicPeriod"/>
            </a:pPr>
            <a:r>
              <a:rPr lang="en-US" sz="1400" b="1" dirty="0">
                <a:latin typeface="Times New Roman" panose="02020603050405020304" pitchFamily="18" charset="0"/>
                <a:cs typeface="Times New Roman" panose="02020603050405020304" pitchFamily="18" charset="0"/>
              </a:rPr>
              <a:t>Real-Time Detection: </a:t>
            </a:r>
            <a:r>
              <a:rPr lang="en-US" sz="1400" dirty="0">
                <a:latin typeface="Times New Roman" panose="02020603050405020304" pitchFamily="18" charset="0"/>
                <a:cs typeface="Times New Roman" panose="02020603050405020304" pitchFamily="18" charset="0"/>
              </a:rPr>
              <a:t>The system provides instant feedback on whether the comment is harmful or </a:t>
            </a:r>
            <a:r>
              <a:rPr lang="en-US" sz="1400" dirty="0" err="1">
                <a:latin typeface="Times New Roman" panose="02020603050405020304" pitchFamily="18" charset="0"/>
                <a:cs typeface="Times New Roman" panose="02020603050405020304" pitchFamily="18" charset="0"/>
              </a:rPr>
              <a:t>safe.Actionable</a:t>
            </a:r>
            <a:r>
              <a:rPr lang="en-US" sz="1400" dirty="0">
                <a:latin typeface="Times New Roman" panose="02020603050405020304" pitchFamily="18" charset="0"/>
                <a:cs typeface="Times New Roman" panose="02020603050405020304" pitchFamily="18" charset="0"/>
              </a:rPr>
              <a:t> Outcome: This helps platforms quickly identify and moderate harmful content to protect users.</a:t>
            </a:r>
          </a:p>
        </p:txBody>
      </p:sp>
    </p:spTree>
    <p:extLst>
      <p:ext uri="{BB962C8B-B14F-4D97-AF65-F5344CB8AC3E}">
        <p14:creationId xmlns:p14="http://schemas.microsoft.com/office/powerpoint/2010/main" val="1541872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78BD1F4-1419-C8AA-C2C6-DBAF7C5B53BC}"/>
              </a:ext>
            </a:extLst>
          </p:cNvPr>
          <p:cNvSpPr txBox="1"/>
          <p:nvPr/>
        </p:nvSpPr>
        <p:spPr>
          <a:xfrm>
            <a:off x="559824" y="1089460"/>
            <a:ext cx="7763510" cy="5213222"/>
          </a:xfrm>
          <a:prstGeom prst="rect">
            <a:avLst/>
          </a:prstGeom>
          <a:noFill/>
        </p:spPr>
        <p:txBody>
          <a:bodyPr wrap="square">
            <a:spAutoFit/>
          </a:bodyPr>
          <a:lstStyle/>
          <a:p>
            <a:pPr algn="just">
              <a:lnSpc>
                <a:spcPct val="150000"/>
              </a:lnSpc>
              <a:buNone/>
            </a:pPr>
            <a:r>
              <a:rPr lang="en-US" sz="1600" b="1" dirty="0">
                <a:latin typeface="Times New Roman" panose="02020603050405020304" pitchFamily="18" charset="0"/>
                <a:cs typeface="Times New Roman" panose="02020603050405020304" pitchFamily="18" charset="0"/>
              </a:rPr>
              <a:t>Software Testing Techniques</a:t>
            </a:r>
          </a:p>
          <a:p>
            <a:pPr algn="just">
              <a:lnSpc>
                <a:spcPct val="150000"/>
              </a:lnSpc>
              <a:buNone/>
            </a:pPr>
            <a:endParaRPr lang="en-US" sz="1600" b="1" dirty="0">
              <a:latin typeface="Times New Roman" panose="02020603050405020304" pitchFamily="18" charset="0"/>
              <a:cs typeface="Times New Roman" panose="02020603050405020304" pitchFamily="18" charset="0"/>
            </a:endParaRPr>
          </a:p>
          <a:p>
            <a:pPr algn="just">
              <a:lnSpc>
                <a:spcPct val="150000"/>
              </a:lnSpc>
              <a:buNone/>
            </a:pPr>
            <a:r>
              <a:rPr lang="en-US" dirty="0">
                <a:latin typeface="Times New Roman" panose="02020603050405020304" pitchFamily="18" charset="0"/>
                <a:cs typeface="Times New Roman" panose="02020603050405020304" pitchFamily="18" charset="0"/>
              </a:rPr>
              <a:t>The cyberbullying detection system is evaluated based on standard performance </a:t>
            </a:r>
            <a:r>
              <a:rPr lang="en-US" dirty="0" err="1">
                <a:latin typeface="Times New Roman" panose="02020603050405020304" pitchFamily="18" charset="0"/>
                <a:cs typeface="Times New Roman" panose="02020603050405020304" pitchFamily="18" charset="0"/>
              </a:rPr>
              <a:t>matrics</a:t>
            </a:r>
            <a:r>
              <a:rPr lang="en-US" dirty="0">
                <a:latin typeface="Times New Roman" panose="02020603050405020304" pitchFamily="18" charset="0"/>
                <a:cs typeface="Times New Roman" panose="02020603050405020304" pitchFamily="18" charset="0"/>
              </a:rPr>
              <a:t> to ensure accuracy and efficiency. The model is tested using a large dataset from social media platforms like Twitter, Instagram, and Facebook to assess its ability to classify cyberbullying content correctly.</a:t>
            </a:r>
          </a:p>
          <a:p>
            <a:pPr algn="just">
              <a:lnSpc>
                <a:spcPct val="150000"/>
              </a:lnSpc>
              <a:buNone/>
            </a:pPr>
            <a:r>
              <a:rPr lang="en-US" dirty="0">
                <a:latin typeface="Times New Roman" panose="02020603050405020304" pitchFamily="18" charset="0"/>
                <a:cs typeface="Times New Roman" panose="02020603050405020304" pitchFamily="18" charset="0"/>
              </a:rPr>
              <a:t>The evaluation metrics include:</a:t>
            </a:r>
          </a:p>
          <a:p>
            <a:pPr algn="just">
              <a:buNone/>
            </a:pP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 Measures the overall correctness of predictions.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Precision</a:t>
            </a:r>
            <a:r>
              <a:rPr lang="en-US" dirty="0">
                <a:latin typeface="Times New Roman" panose="02020603050405020304" pitchFamily="18" charset="0"/>
                <a:cs typeface="Times New Roman" panose="02020603050405020304" pitchFamily="18" charset="0"/>
              </a:rPr>
              <a:t> – Determines how many detected bullying messages are actually bullying.</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Recall</a:t>
            </a:r>
            <a:r>
              <a:rPr lang="en-US" dirty="0">
                <a:latin typeface="Times New Roman" panose="02020603050405020304" pitchFamily="18" charset="0"/>
                <a:cs typeface="Times New Roman" panose="02020603050405020304" pitchFamily="18" charset="0"/>
              </a:rPr>
              <a:t> – Identifies how well the model detects all instances of cyberbullying.</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F1-Score</a:t>
            </a:r>
            <a:r>
              <a:rPr lang="en-US" dirty="0">
                <a:latin typeface="Times New Roman" panose="02020603050405020304" pitchFamily="18" charset="0"/>
                <a:cs typeface="Times New Roman" panose="02020603050405020304" pitchFamily="18" charset="0"/>
              </a:rPr>
              <a:t> – Balances precision and recall for better performance assessment.</a:t>
            </a:r>
          </a:p>
        </p:txBody>
      </p:sp>
    </p:spTree>
    <p:extLst>
      <p:ext uri="{BB962C8B-B14F-4D97-AF65-F5344CB8AC3E}">
        <p14:creationId xmlns:p14="http://schemas.microsoft.com/office/powerpoint/2010/main" val="4035232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D8796-FD80-4E95-3667-6601EA68D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F3983-E996-B752-1F1E-47547844DEA1}"/>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03D20E5-271F-6F38-4144-6F41486CA872}"/>
              </a:ext>
            </a:extLst>
          </p:cNvPr>
          <p:cNvSpPr txBox="1"/>
          <p:nvPr/>
        </p:nvSpPr>
        <p:spPr>
          <a:xfrm>
            <a:off x="628650" y="1132066"/>
            <a:ext cx="7759570" cy="5397888"/>
          </a:xfrm>
          <a:prstGeom prst="rect">
            <a:avLst/>
          </a:prstGeom>
          <a:noFill/>
        </p:spPr>
        <p:txBody>
          <a:bodyPr wrap="square">
            <a:spAutoFit/>
          </a:bodyPr>
          <a:lstStyle/>
          <a:p>
            <a:pPr>
              <a:lnSpc>
                <a:spcPct val="150000"/>
              </a:lnSpc>
              <a:buNone/>
            </a:pPr>
            <a:r>
              <a:rPr lang="en-US" sz="1600" b="1" dirty="0">
                <a:latin typeface="Times New Roman" panose="02020603050405020304" pitchFamily="18" charset="0"/>
                <a:cs typeface="Times New Roman" panose="02020603050405020304" pitchFamily="18" charset="0"/>
              </a:rPr>
              <a:t>Testing Methods &amp; Key Strategies</a:t>
            </a:r>
            <a:endParaRPr lang="en-US" sz="1400" b="1" dirty="0">
              <a:latin typeface="Times New Roman" panose="02020603050405020304" pitchFamily="18" charset="0"/>
              <a:cs typeface="Times New Roman" panose="02020603050405020304" pitchFamily="18" charset="0"/>
            </a:endParaRPr>
          </a:p>
          <a:p>
            <a:pPr algn="just">
              <a:lnSpc>
                <a:spcPct val="150000"/>
              </a:lnSpc>
              <a:spcAft>
                <a:spcPts val="1000"/>
              </a:spcAft>
            </a:pPr>
            <a:r>
              <a:rPr lang="en-US" dirty="0">
                <a:latin typeface="Times New Roman" panose="02020603050405020304" pitchFamily="18" charset="0"/>
                <a:cs typeface="Times New Roman" panose="02020603050405020304" pitchFamily="18" charset="0"/>
              </a:rPr>
              <a:t>The cyberbullying detection system is tested for accuracy, efficiency, and reliability using various methods. Unit testing ensures each module, like data preprocessing and prediction, functions correctly, while integration testing verifies smooth interaction between components. Performance and stress testing assess the system's ability to handle large datasets and real-time classification. Cross-validation improves accuracy by repeatedly training and testing on different dataset splits, while hyperparameter tuning optimizes model performance. The system’s results are compared with LSTM,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and BERT to validate improvements. Additionally, false positive and negative analysis refines predictions by correcting misclassified cases. These testing methods and strategies ensure high accuracy, stability, and real-time efficiency in detecting cyberbullying.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47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88BCD-9FDE-E10C-D411-855D5CC17C2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2077282-978D-21E8-4665-CF1B425B9005}"/>
              </a:ext>
            </a:extLst>
          </p:cNvPr>
          <p:cNvPicPr>
            <a:picLocks noChangeAspect="1"/>
          </p:cNvPicPr>
          <p:nvPr/>
        </p:nvPicPr>
        <p:blipFill>
          <a:blip r:embed="rId2"/>
          <a:stretch>
            <a:fillRect/>
          </a:stretch>
        </p:blipFill>
        <p:spPr>
          <a:xfrm>
            <a:off x="3364772" y="-74159"/>
            <a:ext cx="2712955" cy="853514"/>
          </a:xfrm>
          <a:prstGeom prst="rect">
            <a:avLst/>
          </a:prstGeom>
        </p:spPr>
      </p:pic>
      <p:pic>
        <p:nvPicPr>
          <p:cNvPr id="3" name="Picture 2">
            <a:extLst>
              <a:ext uri="{FF2B5EF4-FFF2-40B4-BE49-F238E27FC236}">
                <a16:creationId xmlns:a16="http://schemas.microsoft.com/office/drawing/2014/main" id="{52A52AC4-87B2-6E98-CEE7-8CFEDC7277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350" y="1409172"/>
            <a:ext cx="7773300" cy="4478445"/>
          </a:xfrm>
          <a:prstGeom prst="rect">
            <a:avLst/>
          </a:prstGeom>
        </p:spPr>
      </p:pic>
      <p:sp>
        <p:nvSpPr>
          <p:cNvPr id="2" name="Title 1">
            <a:extLst>
              <a:ext uri="{FF2B5EF4-FFF2-40B4-BE49-F238E27FC236}">
                <a16:creationId xmlns:a16="http://schemas.microsoft.com/office/drawing/2014/main" id="{8E06783E-10AF-523B-A186-2EB182BD0277}"/>
              </a:ext>
            </a:extLst>
          </p:cNvPr>
          <p:cNvSpPr>
            <a:spLocks noGrp="1"/>
          </p:cNvSpPr>
          <p:nvPr>
            <p:ph type="ctrTitle"/>
          </p:nvPr>
        </p:nvSpPr>
        <p:spPr>
          <a:xfrm>
            <a:off x="685800" y="513185"/>
            <a:ext cx="3550298" cy="559835"/>
          </a:xfrm>
        </p:spPr>
        <p:txBody>
          <a:bodyPr>
            <a:normAutofit/>
          </a:bodyPr>
          <a:lstStyle/>
          <a:p>
            <a:r>
              <a:rPr lang="en-IN" sz="2000" b="1" dirty="0">
                <a:solidFill>
                  <a:srgbClr val="7030A0"/>
                </a:solidFill>
                <a:latin typeface="Times New Roman" panose="02020603050405020304" pitchFamily="18" charset="0"/>
                <a:cs typeface="Times New Roman" panose="02020603050405020304" pitchFamily="18" charset="0"/>
              </a:rPr>
              <a:t>DATASET SCREENSHOT</a:t>
            </a:r>
          </a:p>
        </p:txBody>
      </p:sp>
      <p:sp>
        <p:nvSpPr>
          <p:cNvPr id="4" name="Subtitle 3">
            <a:extLst>
              <a:ext uri="{FF2B5EF4-FFF2-40B4-BE49-F238E27FC236}">
                <a16:creationId xmlns:a16="http://schemas.microsoft.com/office/drawing/2014/main" id="{D0761B88-2471-BC97-F0BB-5F397425F3D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116151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02ACD-3A15-AA26-312B-31200D3E009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7ACED24-2FA8-608E-F7D2-4FA06E94DF16}"/>
              </a:ext>
            </a:extLst>
          </p:cNvPr>
          <p:cNvPicPr>
            <a:picLocks noChangeAspect="1"/>
          </p:cNvPicPr>
          <p:nvPr/>
        </p:nvPicPr>
        <p:blipFill>
          <a:blip r:embed="rId2"/>
          <a:stretch>
            <a:fillRect/>
          </a:stretch>
        </p:blipFill>
        <p:spPr>
          <a:xfrm>
            <a:off x="3402095" y="-106717"/>
            <a:ext cx="2712955" cy="853514"/>
          </a:xfrm>
          <a:prstGeom prst="rect">
            <a:avLst/>
          </a:prstGeom>
        </p:spPr>
      </p:pic>
      <p:pic>
        <p:nvPicPr>
          <p:cNvPr id="3" name="Picture 2">
            <a:extLst>
              <a:ext uri="{FF2B5EF4-FFF2-40B4-BE49-F238E27FC236}">
                <a16:creationId xmlns:a16="http://schemas.microsoft.com/office/drawing/2014/main" id="{6E19731B-0A79-621F-0FFF-FB975A03B0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3" y="1035480"/>
            <a:ext cx="8294914" cy="4511813"/>
          </a:xfrm>
          <a:prstGeom prst="rect">
            <a:avLst/>
          </a:prstGeom>
        </p:spPr>
      </p:pic>
    </p:spTree>
    <p:extLst>
      <p:ext uri="{BB962C8B-B14F-4D97-AF65-F5344CB8AC3E}">
        <p14:creationId xmlns:p14="http://schemas.microsoft.com/office/powerpoint/2010/main" val="3967297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DED9F5D-35A5-7A02-873D-290464C843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468" y="1247443"/>
            <a:ext cx="8025063" cy="4557713"/>
          </a:xfrm>
          <a:prstGeom prst="rect">
            <a:avLst/>
          </a:prstGeom>
        </p:spPr>
      </p:pic>
    </p:spTree>
    <p:extLst>
      <p:ext uri="{BB962C8B-B14F-4D97-AF65-F5344CB8AC3E}">
        <p14:creationId xmlns:p14="http://schemas.microsoft.com/office/powerpoint/2010/main" val="11265239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3077-6D02-CE4D-D4F8-094054026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6395F-893D-7F37-D0EB-DD801F9BAD88}"/>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82601F8-BB80-B25C-7FDC-3723AF818D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1758" y="1431757"/>
            <a:ext cx="6448926" cy="4716379"/>
          </a:xfrm>
          <a:prstGeom prst="rect">
            <a:avLst/>
          </a:prstGeom>
        </p:spPr>
      </p:pic>
    </p:spTree>
    <p:extLst>
      <p:ext uri="{BB962C8B-B14F-4D97-AF65-F5344CB8AC3E}">
        <p14:creationId xmlns:p14="http://schemas.microsoft.com/office/powerpoint/2010/main" val="2023387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F7D335-E8A2-C306-AC0A-A66CD83019AC}"/>
              </a:ext>
            </a:extLst>
          </p:cNvPr>
          <p:cNvPicPr>
            <a:picLocks noChangeAspect="1"/>
          </p:cNvPicPr>
          <p:nvPr/>
        </p:nvPicPr>
        <p:blipFill>
          <a:blip r:embed="rId2"/>
          <a:stretch>
            <a:fillRect/>
          </a:stretch>
        </p:blipFill>
        <p:spPr>
          <a:xfrm>
            <a:off x="3402095" y="-106717"/>
            <a:ext cx="2712955" cy="853514"/>
          </a:xfrm>
          <a:prstGeom prst="rect">
            <a:avLst/>
          </a:prstGeom>
        </p:spPr>
      </p:pic>
      <p:pic>
        <p:nvPicPr>
          <p:cNvPr id="9" name="Picture 8">
            <a:extLst>
              <a:ext uri="{FF2B5EF4-FFF2-40B4-BE49-F238E27FC236}">
                <a16:creationId xmlns:a16="http://schemas.microsoft.com/office/drawing/2014/main" id="{9313CDC1-1497-5D7B-814A-2C2500D1D3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452" y="1179094"/>
            <a:ext cx="8089095" cy="4680285"/>
          </a:xfrm>
          <a:prstGeom prst="rect">
            <a:avLst/>
          </a:prstGeom>
        </p:spPr>
      </p:pic>
    </p:spTree>
    <p:extLst>
      <p:ext uri="{BB962C8B-B14F-4D97-AF65-F5344CB8AC3E}">
        <p14:creationId xmlns:p14="http://schemas.microsoft.com/office/powerpoint/2010/main" val="925101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Conclusion / Feature Enhancement</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7AAD5A8-896E-F7A9-600D-4EEF223DE129}"/>
              </a:ext>
            </a:extLst>
          </p:cNvPr>
          <p:cNvSpPr txBox="1"/>
          <p:nvPr/>
        </p:nvSpPr>
        <p:spPr>
          <a:xfrm>
            <a:off x="529512" y="1094661"/>
            <a:ext cx="7886700" cy="5962979"/>
          </a:xfrm>
          <a:prstGeom prst="rect">
            <a:avLst/>
          </a:prstGeom>
          <a:noFill/>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Future Enhancement Directions</a:t>
            </a:r>
            <a:r>
              <a:rPr lang="en-US" sz="1400" b="1" dirty="0">
                <a:latin typeface="Times New Roman" panose="02020603050405020304" pitchFamily="18" charset="0"/>
                <a:cs typeface="Times New Roman" panose="02020603050405020304" pitchFamily="18" charset="0"/>
              </a:rPr>
              <a:t>:</a:t>
            </a:r>
          </a:p>
          <a:p>
            <a:pPr algn="just">
              <a:lnSpc>
                <a:spcPct val="150000"/>
              </a:lnSpc>
              <a:buNone/>
            </a:pPr>
            <a:r>
              <a:rPr lang="en-US" sz="1400" dirty="0">
                <a:latin typeface="Times New Roman" panose="02020603050405020304" pitchFamily="18" charset="0"/>
                <a:cs typeface="Times New Roman" panose="02020603050405020304" pitchFamily="18" charset="0"/>
              </a:rPr>
              <a:t>Looking ahead, the system could expand to detect multiple forms of online abuse, like hate speech or misinformation, across various platforms. Enhancements like real-time threat analysis and broader language support could make the tool more impactful. Continued improvements in AI and user interaction will allow for a smarter, more adaptive solution.</a:t>
            </a:r>
          </a:p>
          <a:p>
            <a:pPr algn="just">
              <a:lnSpc>
                <a:spcPct val="150000"/>
              </a:lnSpc>
              <a:buNone/>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Future Directions :</a:t>
            </a:r>
            <a:endParaRPr lang="en-US" sz="1400" b="1" dirty="0">
              <a:latin typeface="Times New Roman" panose="02020603050405020304" pitchFamily="18" charset="0"/>
              <a:ea typeface="Tahoma" panose="020B0604030504040204" pitchFamily="34" charset="0"/>
              <a:cs typeface="Times New Roman" panose="02020603050405020304" pitchFamily="18" charset="0"/>
            </a:endParaRPr>
          </a:p>
          <a:p>
            <a:pPr algn="just">
              <a:lnSpc>
                <a:spcPct val="150000"/>
              </a:lnSpc>
              <a:buFont typeface="+mj-lt"/>
              <a:buAutoNum type="arabicPeriod"/>
            </a:pPr>
            <a:r>
              <a:rPr lang="en-US" sz="1400" dirty="0">
                <a:latin typeface="Times New Roman" panose="02020603050405020304" pitchFamily="18" charset="0"/>
                <a:ea typeface="Tahoma" panose="020B0604030504040204" pitchFamily="34" charset="0"/>
                <a:cs typeface="Times New Roman" panose="02020603050405020304" pitchFamily="18" charset="0"/>
              </a:rPr>
              <a:t> Comprehensive Abuse Detection: Expand beyond cyberbullying to detect hate speech, misinformation, and harassment.</a:t>
            </a:r>
          </a:p>
          <a:p>
            <a:pPr algn="just">
              <a:lnSpc>
                <a:spcPct val="150000"/>
              </a:lnSpc>
              <a:buFont typeface="+mj-lt"/>
              <a:buAutoNum type="arabicPeriod"/>
            </a:pPr>
            <a:r>
              <a:rPr lang="en-US" sz="1400" dirty="0">
                <a:latin typeface="Times New Roman" panose="02020603050405020304" pitchFamily="18" charset="0"/>
                <a:ea typeface="Tahoma" panose="020B0604030504040204" pitchFamily="34" charset="0"/>
                <a:cs typeface="Times New Roman" panose="02020603050405020304" pitchFamily="18" charset="0"/>
              </a:rPr>
              <a:t> Real-Time Monitoring &amp; Intervention: Enable immediate threat detection and proactive action to stop harmful content.</a:t>
            </a:r>
          </a:p>
          <a:p>
            <a:pPr algn="just">
              <a:lnSpc>
                <a:spcPct val="150000"/>
              </a:lnSpc>
              <a:buFont typeface="+mj-lt"/>
              <a:buAutoNum type="arabicPeriod"/>
            </a:pPr>
            <a:r>
              <a:rPr lang="en-US" sz="1400" dirty="0">
                <a:latin typeface="Times New Roman" panose="02020603050405020304" pitchFamily="18" charset="0"/>
                <a:ea typeface="Tahoma" panose="020B0604030504040204" pitchFamily="34" charset="0"/>
                <a:cs typeface="Times New Roman" panose="02020603050405020304" pitchFamily="18" charset="0"/>
              </a:rPr>
              <a:t> Cross-Platform Expansion: Support more platforms like TikTok, Reddit, and YouTube for broader coverage.</a:t>
            </a:r>
          </a:p>
          <a:p>
            <a:pPr algn="just">
              <a:lnSpc>
                <a:spcPct val="150000"/>
              </a:lnSpc>
              <a:buFont typeface="+mj-lt"/>
              <a:buAutoNum type="arabicPeriod"/>
            </a:pPr>
            <a:r>
              <a:rPr lang="en-US" sz="1400" dirty="0">
                <a:latin typeface="Times New Roman" panose="02020603050405020304" pitchFamily="18" charset="0"/>
                <a:ea typeface="Tahoma" panose="020B0604030504040204" pitchFamily="34" charset="0"/>
                <a:cs typeface="Times New Roman" panose="02020603050405020304" pitchFamily="18" charset="0"/>
              </a:rPr>
              <a:t> Multilingual Detection: Add support for multiple languages to detect abuse in a global context.</a:t>
            </a:r>
          </a:p>
          <a:p>
            <a:pPr algn="just">
              <a:lnSpc>
                <a:spcPct val="150000"/>
              </a:lnSpc>
              <a:buFont typeface="+mj-lt"/>
              <a:buAutoNum type="arabicPeriod"/>
            </a:pPr>
            <a:r>
              <a:rPr lang="en-US" sz="1400" dirty="0">
                <a:latin typeface="Times New Roman" panose="02020603050405020304" pitchFamily="18" charset="0"/>
                <a:ea typeface="Tahoma" panose="020B0604030504040204" pitchFamily="34" charset="0"/>
                <a:cs typeface="Times New Roman" panose="02020603050405020304" pitchFamily="18" charset="0"/>
              </a:rPr>
              <a:t> Adaptive AI Models: Continuously evolve the AI to handle emerging trends and new forms of abuse.</a:t>
            </a:r>
          </a:p>
          <a:p>
            <a:pPr algn="just">
              <a:lnSpc>
                <a:spcPct val="150000"/>
              </a:lnSpc>
              <a:buFont typeface="+mj-lt"/>
              <a:buAutoNum type="arabicPeriod"/>
            </a:pPr>
            <a:r>
              <a:rPr lang="en-US" sz="1400" dirty="0">
                <a:latin typeface="Times New Roman" panose="02020603050405020304" pitchFamily="18" charset="0"/>
                <a:ea typeface="Tahoma" panose="020B0604030504040204" pitchFamily="34" charset="0"/>
                <a:cs typeface="Times New Roman" panose="02020603050405020304" pitchFamily="18" charset="0"/>
              </a:rPr>
              <a:t> Enhanced User Interaction: Focus on improving the user interface and making the system more interactive for better engagement and feedback.</a:t>
            </a:r>
          </a:p>
          <a:p>
            <a:pPr algn="just">
              <a:lnSpc>
                <a:spcPct val="150000"/>
              </a:lnSpc>
              <a:buNone/>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1939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1A76DF4-87F2-5F7A-4155-2A4CC8AD70F8}"/>
              </a:ext>
            </a:extLst>
          </p:cNvPr>
          <p:cNvSpPr txBox="1"/>
          <p:nvPr/>
        </p:nvSpPr>
        <p:spPr>
          <a:xfrm>
            <a:off x="1428750" y="136524"/>
            <a:ext cx="7258050" cy="584775"/>
          </a:xfrm>
          <a:prstGeom prst="rect">
            <a:avLst/>
          </a:prstGeom>
          <a:noFill/>
        </p:spPr>
        <p:txBody>
          <a:bodyPr wrap="square">
            <a:spAutoFit/>
          </a:bodyPr>
          <a:lstStyle/>
          <a:p>
            <a:r>
              <a:rPr kumimoji="0" lang="en-US" sz="3200" b="1" i="0" u="none" strike="noStrike" kern="1200" cap="none" spc="0" normalizeH="0" baseline="0"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rPr>
              <a:t>Conclusion / Feature Enhancement</a:t>
            </a:r>
            <a:endParaRPr lang="en-IN" dirty="0"/>
          </a:p>
        </p:txBody>
      </p:sp>
      <p:sp>
        <p:nvSpPr>
          <p:cNvPr id="10" name="TextBox 9">
            <a:extLst>
              <a:ext uri="{FF2B5EF4-FFF2-40B4-BE49-F238E27FC236}">
                <a16:creationId xmlns:a16="http://schemas.microsoft.com/office/drawing/2014/main" id="{E34EF31F-9E35-E1B1-3987-2B5CF9D04D34}"/>
              </a:ext>
            </a:extLst>
          </p:cNvPr>
          <p:cNvSpPr txBox="1"/>
          <p:nvPr/>
        </p:nvSpPr>
        <p:spPr>
          <a:xfrm>
            <a:off x="671804" y="877928"/>
            <a:ext cx="7725747" cy="3331489"/>
          </a:xfrm>
          <a:prstGeom prst="rect">
            <a:avLst/>
          </a:prstGeom>
          <a:noFill/>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Conclusion:</a:t>
            </a:r>
          </a:p>
          <a:p>
            <a:pPr algn="just">
              <a:lnSpc>
                <a:spcPct val="150000"/>
              </a:lnSpc>
            </a:pP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Enhanced Cyberbullying Detection System offers a powerful solution to identify and address harmful behavior on social media. Using </a:t>
            </a:r>
            <a:r>
              <a:rPr lang="en-US" sz="1400" dirty="0" err="1">
                <a:latin typeface="Times New Roman" panose="02020603050405020304" pitchFamily="18" charset="0"/>
                <a:cs typeface="Times New Roman" panose="02020603050405020304" pitchFamily="18" charset="0"/>
              </a:rPr>
              <a:t>DistilBERT</a:t>
            </a:r>
            <a:r>
              <a:rPr lang="en-US" sz="1400" dirty="0">
                <a:latin typeface="Times New Roman" panose="02020603050405020304" pitchFamily="18" charset="0"/>
                <a:cs typeface="Times New Roman" panose="02020603050405020304" pitchFamily="18" charset="0"/>
              </a:rPr>
              <a:t>, it accurately detects instances of cyberbullying in real-time, helping to create a safer online environment. This system is not only scalable but also adaptable, capable of expanding to handle various types of online abuse like hate speech and misinformation. By continuously improving through advancements in AI and integrating across multiple platforms, it ensures a broader reach and more effective detection. The future of this system looks promising, with potential upgrades to support more languages and platforms, making it a global tool for combating online harassment.</a:t>
            </a:r>
          </a:p>
        </p:txBody>
      </p:sp>
    </p:spTree>
    <p:extLst>
      <p:ext uri="{BB962C8B-B14F-4D97-AF65-F5344CB8AC3E}">
        <p14:creationId xmlns:p14="http://schemas.microsoft.com/office/powerpoint/2010/main" val="3472713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Reference Paper/ URL</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B6D369E8-824B-4704-91D5-7D9A997346C0}"/>
              </a:ext>
            </a:extLst>
          </p:cNvPr>
          <p:cNvSpPr txBox="1">
            <a:spLocks/>
          </p:cNvSpPr>
          <p:nvPr/>
        </p:nvSpPr>
        <p:spPr>
          <a:xfrm>
            <a:off x="390433" y="1587898"/>
            <a:ext cx="7886700" cy="530258"/>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gn="ct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a:solidFill>
                  <a:srgbClr val="7030A0"/>
                </a:solidFill>
                <a:latin typeface="+mn-lt"/>
              </a:rPr>
              <a:t> </a:t>
            </a:r>
            <a:endParaRPr lang="en-IN" dirty="0">
              <a:solidFill>
                <a:srgbClr val="7030A0"/>
              </a:solidFill>
              <a:latin typeface="+mn-lt"/>
            </a:endParaRPr>
          </a:p>
        </p:txBody>
      </p:sp>
      <p:sp>
        <p:nvSpPr>
          <p:cNvPr id="9" name="TextBox 8">
            <a:extLst>
              <a:ext uri="{FF2B5EF4-FFF2-40B4-BE49-F238E27FC236}">
                <a16:creationId xmlns:a16="http://schemas.microsoft.com/office/drawing/2014/main" id="{0E22D1F2-5440-2667-717B-96461766E81D}"/>
              </a:ext>
            </a:extLst>
          </p:cNvPr>
          <p:cNvSpPr txBox="1"/>
          <p:nvPr/>
        </p:nvSpPr>
        <p:spPr>
          <a:xfrm>
            <a:off x="390433" y="1392303"/>
            <a:ext cx="8053772" cy="84559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400" b="1" dirty="0"/>
              <a:t>Jamil et al. (2018)</a:t>
            </a:r>
            <a:r>
              <a:rPr lang="en-US" sz="1400" dirty="0"/>
              <a:t> introduced </a:t>
            </a:r>
            <a:r>
              <a:rPr lang="en-US" sz="1400" i="1" dirty="0" err="1"/>
              <a:t>GreenShip</a:t>
            </a:r>
            <a:r>
              <a:rPr lang="en-US" sz="1400" dirty="0"/>
              <a:t>, a social networking system designed to mitigate cyberbullying using reputation metrics and social relationships. Unlike conventional text-based detection methods, </a:t>
            </a:r>
            <a:r>
              <a:rPr lang="en-US" sz="1400" dirty="0" err="1"/>
              <a:t>GreenShip</a:t>
            </a:r>
            <a:r>
              <a:rPr lang="en-US" sz="1400" dirty="0"/>
              <a:t> focuses on analyzing user interactions to filter harmful content dynamically. This approach is particularly effective in cases where text analysis alone fails to discern intent, offering a more robust moderation technique.</a:t>
            </a:r>
          </a:p>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400" b="1" dirty="0"/>
              <a:t>Roy et al.</a:t>
            </a:r>
            <a:r>
              <a:rPr lang="en-US" sz="1400" dirty="0"/>
              <a:t> investigated </a:t>
            </a:r>
            <a:r>
              <a:rPr lang="en-US" sz="1400" i="1" dirty="0"/>
              <a:t>hate speech detection on Twitter</a:t>
            </a:r>
            <a:r>
              <a:rPr lang="en-US" sz="1400" dirty="0"/>
              <a:t>, comparing deep learning and traditional machine learning models. Their study found that Support Vector Machines (SVM) performed better than CNN and Logistic Regression. However, dataset imbalance remained a key challenge, affecting the real-world applicability of these models.</a:t>
            </a:r>
          </a:p>
          <a:p>
            <a:pPr marL="285750" indent="-285750">
              <a:lnSpc>
                <a:spcPct val="150000"/>
              </a:lnSpc>
              <a:buFont typeface="Arial" panose="020B0604020202020204" pitchFamily="34" charset="0"/>
              <a:buChar char="•"/>
            </a:pPr>
            <a:endParaRPr lang="en-US" sz="1400" dirty="0"/>
          </a:p>
          <a:p>
            <a:pPr marL="285750" indent="-285750">
              <a:lnSpc>
                <a:spcPct val="150000"/>
              </a:lnSpc>
              <a:buFont typeface="Arial" panose="020B0604020202020204" pitchFamily="34" charset="0"/>
              <a:buChar char="•"/>
            </a:pPr>
            <a:r>
              <a:rPr lang="en-US" sz="1400" b="1" dirty="0"/>
              <a:t>Rasel et al. (2018)</a:t>
            </a:r>
            <a:r>
              <a:rPr lang="en-US" sz="1400" dirty="0"/>
              <a:t> developed an </a:t>
            </a:r>
            <a:r>
              <a:rPr lang="en-US" sz="1400" i="1" dirty="0"/>
              <a:t>offensive comment detection framework</a:t>
            </a:r>
            <a:r>
              <a:rPr lang="en-US" sz="1400" dirty="0"/>
              <a:t> using Latent Semantic Analysis (LSA) combined with machine learning classifiers such as Random Forest, Logistic Regression, and SVM. Their approach improved feature extraction and achieved over 93% accuracy, demonstrating the importance of advanced feature selection in cyberbullying detection.</a:t>
            </a: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452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2800" b="1" dirty="0">
                <a:solidFill>
                  <a:srgbClr val="7030A0"/>
                </a:solidFill>
                <a:latin typeface="Times New Roman" panose="02020603050405020304" pitchFamily="18" charset="0"/>
                <a:cs typeface="Times New Roman" panose="02020603050405020304" pitchFamily="18" charset="0"/>
              </a:rPr>
              <a:t>Conference / Publication / Patent Certificate/ Project Contest  Winner Certificates</a:t>
            </a:r>
            <a:endParaRPr lang="en-IN" sz="16600"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11249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D_16_finalProject</Template>
  <TotalTime>335</TotalTime>
  <Words>2569</Words>
  <Application>Microsoft Office PowerPoint</Application>
  <PresentationFormat>On-screen Show (4:3)</PresentationFormat>
  <Paragraphs>234</Paragraphs>
  <Slides>34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Symbol</vt:lpstr>
      <vt:lpstr>Times New Roman</vt:lpstr>
      <vt:lpstr>Office Theme</vt:lpstr>
      <vt:lpstr>PowerPoint Presentation</vt:lpstr>
      <vt:lpstr>Abstract</vt:lpstr>
      <vt:lpstr>Introduction</vt:lpstr>
      <vt:lpstr>Objective of the Project</vt:lpstr>
      <vt:lpstr>Literature Survey</vt:lpstr>
      <vt:lpstr>Literature Survey</vt:lpstr>
      <vt:lpstr>Literature Survey</vt:lpstr>
      <vt:lpstr>Problem Statement</vt:lpstr>
      <vt:lpstr>Proposed System</vt:lpstr>
      <vt:lpstr>Software / Hardware used</vt:lpstr>
      <vt:lpstr>Software / Hardware used</vt:lpstr>
      <vt:lpstr>Architecture / Methodology used</vt:lpstr>
      <vt:lpstr>System Design – DFD</vt:lpstr>
      <vt:lpstr>System Design – DFD</vt:lpstr>
      <vt:lpstr>System Design – DFD</vt:lpstr>
      <vt:lpstr>System Design – use case diagram</vt:lpstr>
      <vt:lpstr>System Design – Collaboration Diagram</vt:lpstr>
      <vt:lpstr>System Design – Sequence Diagram</vt:lpstr>
      <vt:lpstr>Module Description</vt:lpstr>
      <vt:lpstr>Module Description</vt:lpstr>
      <vt:lpstr>Module Description</vt:lpstr>
      <vt:lpstr>Module Description</vt:lpstr>
      <vt:lpstr>Module Description</vt:lpstr>
      <vt:lpstr>Testing /Performance Evaluation / Results</vt:lpstr>
      <vt:lpstr>Testing /Performance Evaluation / Results</vt:lpstr>
      <vt:lpstr>DATASET SCREENSHOT</vt:lpstr>
      <vt:lpstr>PowerPoint Presentation</vt:lpstr>
      <vt:lpstr>Screen Shots</vt:lpstr>
      <vt:lpstr>Screen Shots</vt:lpstr>
      <vt:lpstr>PowerPoint Presentation</vt:lpstr>
      <vt:lpstr>Conclusion / Feature Enhancement</vt:lpstr>
      <vt:lpstr>PowerPoint Presentation</vt:lpstr>
      <vt:lpstr>Reference Paper/ URL</vt:lpstr>
      <vt:lpstr>Conference / Publication / Patent Certificate/ Project Contest  Winner Certificates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mulay</dc:creator>
  <cp:lastModifiedBy>aditya mulay</cp:lastModifiedBy>
  <cp:revision>7</cp:revision>
  <dcterms:created xsi:type="dcterms:W3CDTF">2025-04-01T02:46:45Z</dcterms:created>
  <dcterms:modified xsi:type="dcterms:W3CDTF">2025-04-02T06:33:35Z</dcterms:modified>
</cp:coreProperties>
</file>